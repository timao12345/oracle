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2" r:id="rId2"/>
    <p:sldId id="256" r:id="rId3"/>
    <p:sldId id="294" r:id="rId4"/>
    <p:sldId id="297" r:id="rId5"/>
    <p:sldId id="298" r:id="rId6"/>
    <p:sldId id="299" r:id="rId7"/>
    <p:sldId id="300"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320" r:id="rId28"/>
    <p:sldId id="321" r:id="rId29"/>
    <p:sldId id="322" r:id="rId30"/>
    <p:sldId id="323" r:id="rId31"/>
    <p:sldId id="324" r:id="rId3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6524"/>
    <a:srgbClr val="64983C"/>
    <a:srgbClr val="348DCC"/>
    <a:srgbClr val="EC7906"/>
    <a:srgbClr val="CFE6F9"/>
    <a:srgbClr val="FBE4C5"/>
    <a:srgbClr val="5F2C09"/>
    <a:srgbClr val="2310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9" autoAdjust="0"/>
    <p:restoredTop sz="94660"/>
  </p:normalViewPr>
  <p:slideViewPr>
    <p:cSldViewPr snapToGrid="0">
      <p:cViewPr varScale="1">
        <p:scale>
          <a:sx n="106" d="100"/>
          <a:sy n="106" d="100"/>
        </p:scale>
        <p:origin x="108" y="27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pt-B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pt-BR"/>
          </a:p>
        </p:txBody>
      </p:sp>
      <p:sp>
        <p:nvSpPr>
          <p:cNvPr id="4" name="Date Placeholder 3"/>
          <p:cNvSpPr>
            <a:spLocks noGrp="1"/>
          </p:cNvSpPr>
          <p:nvPr>
            <p:ph type="dt" sz="half" idx="10"/>
          </p:nvPr>
        </p:nvSpPr>
        <p:spPr/>
        <p:txBody>
          <a:bodyPr/>
          <a:lstStyle/>
          <a:p>
            <a:fld id="{742945FB-E5C9-40D8-97EC-C64F1B55F91B}" type="datetimeFigureOut">
              <a:rPr lang="pt-BR" smtClean="0"/>
              <a:t>05/12/2018</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4FF7A65B-81B6-44F6-9996-8660B5A72A47}" type="slidenum">
              <a:rPr lang="pt-BR" smtClean="0"/>
              <a:t>‹#›</a:t>
            </a:fld>
            <a:endParaRPr lang="pt-BR" dirty="0"/>
          </a:p>
        </p:txBody>
      </p:sp>
    </p:spTree>
    <p:extLst>
      <p:ext uri="{BB962C8B-B14F-4D97-AF65-F5344CB8AC3E}">
        <p14:creationId xmlns:p14="http://schemas.microsoft.com/office/powerpoint/2010/main" val="1125215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t-B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Date Placeholder 3"/>
          <p:cNvSpPr>
            <a:spLocks noGrp="1"/>
          </p:cNvSpPr>
          <p:nvPr>
            <p:ph type="dt" sz="half" idx="10"/>
          </p:nvPr>
        </p:nvSpPr>
        <p:spPr/>
        <p:txBody>
          <a:bodyPr/>
          <a:lstStyle/>
          <a:p>
            <a:fld id="{742945FB-E5C9-40D8-97EC-C64F1B55F91B}" type="datetimeFigureOut">
              <a:rPr lang="pt-BR" smtClean="0"/>
              <a:t>05/12/2018</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4FF7A65B-81B6-44F6-9996-8660B5A72A47}" type="slidenum">
              <a:rPr lang="pt-BR" smtClean="0"/>
              <a:t>‹#›</a:t>
            </a:fld>
            <a:endParaRPr lang="pt-BR" dirty="0"/>
          </a:p>
        </p:txBody>
      </p:sp>
    </p:spTree>
    <p:extLst>
      <p:ext uri="{BB962C8B-B14F-4D97-AF65-F5344CB8AC3E}">
        <p14:creationId xmlns:p14="http://schemas.microsoft.com/office/powerpoint/2010/main" val="1242830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pt-B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42945FB-E5C9-40D8-97EC-C64F1B55F91B}" type="datetimeFigureOut">
              <a:rPr lang="pt-BR" smtClean="0"/>
              <a:t>05/12/2018</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4FF7A65B-81B6-44F6-9996-8660B5A72A47}" type="slidenum">
              <a:rPr lang="pt-BR" smtClean="0"/>
              <a:t>‹#›</a:t>
            </a:fld>
            <a:endParaRPr lang="pt-BR" dirty="0"/>
          </a:p>
        </p:txBody>
      </p:sp>
    </p:spTree>
    <p:extLst>
      <p:ext uri="{BB962C8B-B14F-4D97-AF65-F5344CB8AC3E}">
        <p14:creationId xmlns:p14="http://schemas.microsoft.com/office/powerpoint/2010/main" val="604808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t-BR"/>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5" name="Date Placeholder 4"/>
          <p:cNvSpPr>
            <a:spLocks noGrp="1"/>
          </p:cNvSpPr>
          <p:nvPr>
            <p:ph type="dt" sz="half" idx="10"/>
          </p:nvPr>
        </p:nvSpPr>
        <p:spPr/>
        <p:txBody>
          <a:bodyPr/>
          <a:lstStyle/>
          <a:p>
            <a:fld id="{742945FB-E5C9-40D8-97EC-C64F1B55F91B}" type="datetimeFigureOut">
              <a:rPr lang="pt-BR" smtClean="0"/>
              <a:t>05/12/2018</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4FF7A65B-81B6-44F6-9996-8660B5A72A47}" type="slidenum">
              <a:rPr lang="pt-BR" smtClean="0"/>
              <a:t>‹#›</a:t>
            </a:fld>
            <a:endParaRPr lang="pt-BR" dirty="0"/>
          </a:p>
        </p:txBody>
      </p:sp>
    </p:spTree>
    <p:extLst>
      <p:ext uri="{BB962C8B-B14F-4D97-AF65-F5344CB8AC3E}">
        <p14:creationId xmlns:p14="http://schemas.microsoft.com/office/powerpoint/2010/main" val="149207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pt-B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7" name="Date Placeholder 6"/>
          <p:cNvSpPr>
            <a:spLocks noGrp="1"/>
          </p:cNvSpPr>
          <p:nvPr>
            <p:ph type="dt" sz="half" idx="10"/>
          </p:nvPr>
        </p:nvSpPr>
        <p:spPr/>
        <p:txBody>
          <a:bodyPr/>
          <a:lstStyle/>
          <a:p>
            <a:fld id="{742945FB-E5C9-40D8-97EC-C64F1B55F91B}" type="datetimeFigureOut">
              <a:rPr lang="pt-BR" smtClean="0"/>
              <a:t>05/12/2018</a:t>
            </a:fld>
            <a:endParaRPr lang="pt-BR" dirty="0"/>
          </a:p>
        </p:txBody>
      </p:sp>
      <p:sp>
        <p:nvSpPr>
          <p:cNvPr id="8" name="Footer Placeholder 7"/>
          <p:cNvSpPr>
            <a:spLocks noGrp="1"/>
          </p:cNvSpPr>
          <p:nvPr>
            <p:ph type="ftr" sz="quarter" idx="11"/>
          </p:nvPr>
        </p:nvSpPr>
        <p:spPr/>
        <p:txBody>
          <a:bodyPr/>
          <a:lstStyle/>
          <a:p>
            <a:endParaRPr lang="pt-BR" dirty="0"/>
          </a:p>
        </p:txBody>
      </p:sp>
      <p:sp>
        <p:nvSpPr>
          <p:cNvPr id="9" name="Slide Number Placeholder 8"/>
          <p:cNvSpPr>
            <a:spLocks noGrp="1"/>
          </p:cNvSpPr>
          <p:nvPr>
            <p:ph type="sldNum" sz="quarter" idx="12"/>
          </p:nvPr>
        </p:nvSpPr>
        <p:spPr/>
        <p:txBody>
          <a:bodyPr/>
          <a:lstStyle/>
          <a:p>
            <a:fld id="{4FF7A65B-81B6-44F6-9996-8660B5A72A47}" type="slidenum">
              <a:rPr lang="pt-BR" smtClean="0"/>
              <a:t>‹#›</a:t>
            </a:fld>
            <a:endParaRPr lang="pt-BR" dirty="0"/>
          </a:p>
        </p:txBody>
      </p:sp>
    </p:spTree>
    <p:extLst>
      <p:ext uri="{BB962C8B-B14F-4D97-AF65-F5344CB8AC3E}">
        <p14:creationId xmlns:p14="http://schemas.microsoft.com/office/powerpoint/2010/main" val="4289740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t-BR"/>
          </a:p>
        </p:txBody>
      </p:sp>
      <p:sp>
        <p:nvSpPr>
          <p:cNvPr id="3" name="Date Placeholder 2"/>
          <p:cNvSpPr>
            <a:spLocks noGrp="1"/>
          </p:cNvSpPr>
          <p:nvPr>
            <p:ph type="dt" sz="half" idx="10"/>
          </p:nvPr>
        </p:nvSpPr>
        <p:spPr/>
        <p:txBody>
          <a:bodyPr/>
          <a:lstStyle/>
          <a:p>
            <a:fld id="{742945FB-E5C9-40D8-97EC-C64F1B55F91B}" type="datetimeFigureOut">
              <a:rPr lang="pt-BR" smtClean="0"/>
              <a:t>05/12/2018</a:t>
            </a:fld>
            <a:endParaRPr lang="pt-BR" dirty="0"/>
          </a:p>
        </p:txBody>
      </p:sp>
      <p:sp>
        <p:nvSpPr>
          <p:cNvPr id="4" name="Footer Placeholder 3"/>
          <p:cNvSpPr>
            <a:spLocks noGrp="1"/>
          </p:cNvSpPr>
          <p:nvPr>
            <p:ph type="ftr" sz="quarter" idx="11"/>
          </p:nvPr>
        </p:nvSpPr>
        <p:spPr/>
        <p:txBody>
          <a:bodyPr/>
          <a:lstStyle/>
          <a:p>
            <a:endParaRPr lang="pt-BR" dirty="0"/>
          </a:p>
        </p:txBody>
      </p:sp>
      <p:sp>
        <p:nvSpPr>
          <p:cNvPr id="5" name="Slide Number Placeholder 4"/>
          <p:cNvSpPr>
            <a:spLocks noGrp="1"/>
          </p:cNvSpPr>
          <p:nvPr>
            <p:ph type="sldNum" sz="quarter" idx="12"/>
          </p:nvPr>
        </p:nvSpPr>
        <p:spPr/>
        <p:txBody>
          <a:bodyPr/>
          <a:lstStyle/>
          <a:p>
            <a:fld id="{4FF7A65B-81B6-44F6-9996-8660B5A72A47}" type="slidenum">
              <a:rPr lang="pt-BR" smtClean="0"/>
              <a:t>‹#›</a:t>
            </a:fld>
            <a:endParaRPr lang="pt-BR" dirty="0"/>
          </a:p>
        </p:txBody>
      </p:sp>
    </p:spTree>
    <p:extLst>
      <p:ext uri="{BB962C8B-B14F-4D97-AF65-F5344CB8AC3E}">
        <p14:creationId xmlns:p14="http://schemas.microsoft.com/office/powerpoint/2010/main" val="3850374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945FB-E5C9-40D8-97EC-C64F1B55F91B}" type="datetimeFigureOut">
              <a:rPr lang="pt-BR" smtClean="0"/>
              <a:t>05/12/2018</a:t>
            </a:fld>
            <a:endParaRPr lang="pt-BR" dirty="0"/>
          </a:p>
        </p:txBody>
      </p:sp>
      <p:sp>
        <p:nvSpPr>
          <p:cNvPr id="3" name="Footer Placeholder 2"/>
          <p:cNvSpPr>
            <a:spLocks noGrp="1"/>
          </p:cNvSpPr>
          <p:nvPr>
            <p:ph type="ftr" sz="quarter" idx="11"/>
          </p:nvPr>
        </p:nvSpPr>
        <p:spPr/>
        <p:txBody>
          <a:bodyPr/>
          <a:lstStyle/>
          <a:p>
            <a:endParaRPr lang="pt-BR" dirty="0"/>
          </a:p>
        </p:txBody>
      </p:sp>
      <p:sp>
        <p:nvSpPr>
          <p:cNvPr id="4" name="Slide Number Placeholder 3"/>
          <p:cNvSpPr>
            <a:spLocks noGrp="1"/>
          </p:cNvSpPr>
          <p:nvPr>
            <p:ph type="sldNum" sz="quarter" idx="12"/>
          </p:nvPr>
        </p:nvSpPr>
        <p:spPr/>
        <p:txBody>
          <a:bodyPr/>
          <a:lstStyle/>
          <a:p>
            <a:fld id="{4FF7A65B-81B6-44F6-9996-8660B5A72A47}" type="slidenum">
              <a:rPr lang="pt-BR" smtClean="0"/>
              <a:t>‹#›</a:t>
            </a:fld>
            <a:endParaRPr lang="pt-BR" dirty="0"/>
          </a:p>
        </p:txBody>
      </p:sp>
    </p:spTree>
    <p:extLst>
      <p:ext uri="{BB962C8B-B14F-4D97-AF65-F5344CB8AC3E}">
        <p14:creationId xmlns:p14="http://schemas.microsoft.com/office/powerpoint/2010/main" val="3508970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pt-B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2945FB-E5C9-40D8-97EC-C64F1B55F91B}" type="datetimeFigureOut">
              <a:rPr lang="pt-BR" smtClean="0"/>
              <a:t>05/12/2018</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4FF7A65B-81B6-44F6-9996-8660B5A72A47}" type="slidenum">
              <a:rPr lang="pt-BR" smtClean="0"/>
              <a:t>‹#›</a:t>
            </a:fld>
            <a:endParaRPr lang="pt-BR" dirty="0"/>
          </a:p>
        </p:txBody>
      </p:sp>
    </p:spTree>
    <p:extLst>
      <p:ext uri="{BB962C8B-B14F-4D97-AF65-F5344CB8AC3E}">
        <p14:creationId xmlns:p14="http://schemas.microsoft.com/office/powerpoint/2010/main" val="1716369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pt-B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2945FB-E5C9-40D8-97EC-C64F1B55F91B}" type="datetimeFigureOut">
              <a:rPr lang="pt-BR" smtClean="0"/>
              <a:t>05/12/2018</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4FF7A65B-81B6-44F6-9996-8660B5A72A47}" type="slidenum">
              <a:rPr lang="pt-BR" smtClean="0"/>
              <a:t>‹#›</a:t>
            </a:fld>
            <a:endParaRPr lang="pt-BR" dirty="0"/>
          </a:p>
        </p:txBody>
      </p:sp>
    </p:spTree>
    <p:extLst>
      <p:ext uri="{BB962C8B-B14F-4D97-AF65-F5344CB8AC3E}">
        <p14:creationId xmlns:p14="http://schemas.microsoft.com/office/powerpoint/2010/main" val="1015974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t-B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Date Placeholder 3"/>
          <p:cNvSpPr>
            <a:spLocks noGrp="1"/>
          </p:cNvSpPr>
          <p:nvPr>
            <p:ph type="dt" sz="half" idx="10"/>
          </p:nvPr>
        </p:nvSpPr>
        <p:spPr/>
        <p:txBody>
          <a:bodyPr/>
          <a:lstStyle/>
          <a:p>
            <a:fld id="{742945FB-E5C9-40D8-97EC-C64F1B55F91B}" type="datetimeFigureOut">
              <a:rPr lang="pt-BR" smtClean="0"/>
              <a:t>05/12/2018</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4FF7A65B-81B6-44F6-9996-8660B5A72A47}" type="slidenum">
              <a:rPr lang="pt-BR" smtClean="0"/>
              <a:t>‹#›</a:t>
            </a:fld>
            <a:endParaRPr lang="pt-BR" dirty="0"/>
          </a:p>
        </p:txBody>
      </p:sp>
    </p:spTree>
    <p:extLst>
      <p:ext uri="{BB962C8B-B14F-4D97-AF65-F5344CB8AC3E}">
        <p14:creationId xmlns:p14="http://schemas.microsoft.com/office/powerpoint/2010/main" val="182461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pt-B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Date Placeholder 3"/>
          <p:cNvSpPr>
            <a:spLocks noGrp="1"/>
          </p:cNvSpPr>
          <p:nvPr>
            <p:ph type="dt" sz="half" idx="10"/>
          </p:nvPr>
        </p:nvSpPr>
        <p:spPr/>
        <p:txBody>
          <a:bodyPr/>
          <a:lstStyle/>
          <a:p>
            <a:fld id="{742945FB-E5C9-40D8-97EC-C64F1B55F91B}" type="datetimeFigureOut">
              <a:rPr lang="pt-BR" smtClean="0"/>
              <a:t>05/12/2018</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4FF7A65B-81B6-44F6-9996-8660B5A72A47}" type="slidenum">
              <a:rPr lang="pt-BR" smtClean="0"/>
              <a:t>‹#›</a:t>
            </a:fld>
            <a:endParaRPr lang="pt-BR" dirty="0"/>
          </a:p>
        </p:txBody>
      </p:sp>
    </p:spTree>
    <p:extLst>
      <p:ext uri="{BB962C8B-B14F-4D97-AF65-F5344CB8AC3E}">
        <p14:creationId xmlns:p14="http://schemas.microsoft.com/office/powerpoint/2010/main" val="1281428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pt-B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2945FB-E5C9-40D8-97EC-C64F1B55F91B}" type="datetimeFigureOut">
              <a:rPr lang="pt-BR" smtClean="0"/>
              <a:t>05/12/2018</a:t>
            </a:fld>
            <a:endParaRPr lang="pt-BR"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F7A65B-81B6-44F6-9996-8660B5A72A47}" type="slidenum">
              <a:rPr lang="pt-BR" smtClean="0"/>
              <a:t>‹#›</a:t>
            </a:fld>
            <a:endParaRPr lang="pt-BR" dirty="0"/>
          </a:p>
        </p:txBody>
      </p:sp>
    </p:spTree>
    <p:extLst>
      <p:ext uri="{BB962C8B-B14F-4D97-AF65-F5344CB8AC3E}">
        <p14:creationId xmlns:p14="http://schemas.microsoft.com/office/powerpoint/2010/main" val="3721575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818694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1605967" y="2127784"/>
            <a:ext cx="9240420" cy="1969199"/>
          </a:xfrm>
        </p:spPr>
        <p:txBody>
          <a:bodyPr anchor="t">
            <a:noAutofit/>
          </a:bodyPr>
          <a:lstStyle/>
          <a:p>
            <a:pPr marL="360000">
              <a:lnSpc>
                <a:spcPct val="80000"/>
              </a:lnSpc>
              <a:spcBef>
                <a:spcPts val="0"/>
              </a:spcBef>
            </a:pPr>
            <a:r>
              <a:rPr lang="pt-BR" sz="4800" b="1" dirty="0" smtClean="0">
                <a:solidFill>
                  <a:schemeClr val="tx1">
                    <a:lumMod val="65000"/>
                    <a:lumOff val="35000"/>
                  </a:schemeClr>
                </a:solidFill>
                <a:latin typeface="+mn-lt"/>
              </a:rPr>
              <a:t>Bancos de Dados</a:t>
            </a:r>
            <a:br>
              <a:rPr lang="pt-BR" sz="4800" b="1" dirty="0" smtClean="0">
                <a:solidFill>
                  <a:schemeClr val="tx1">
                    <a:lumMod val="65000"/>
                    <a:lumOff val="35000"/>
                  </a:schemeClr>
                </a:solidFill>
                <a:latin typeface="+mn-lt"/>
              </a:rPr>
            </a:br>
            <a:r>
              <a:rPr lang="pt-BR" sz="4000" b="1" dirty="0">
                <a:solidFill>
                  <a:schemeClr val="tx1">
                    <a:lumMod val="65000"/>
                    <a:lumOff val="35000"/>
                  </a:schemeClr>
                </a:solidFill>
                <a:latin typeface="+mn-lt"/>
              </a:rPr>
              <a:t/>
            </a:r>
            <a:br>
              <a:rPr lang="pt-BR" sz="4000" b="1" dirty="0">
                <a:solidFill>
                  <a:schemeClr val="tx1">
                    <a:lumMod val="65000"/>
                    <a:lumOff val="35000"/>
                  </a:schemeClr>
                </a:solidFill>
                <a:latin typeface="+mn-lt"/>
              </a:rPr>
            </a:br>
            <a:r>
              <a:rPr lang="pt-BR" sz="3600" b="1" dirty="0" smtClean="0">
                <a:solidFill>
                  <a:schemeClr val="tx1">
                    <a:lumMod val="65000"/>
                    <a:lumOff val="35000"/>
                  </a:schemeClr>
                </a:solidFill>
                <a:latin typeface="+mn-lt"/>
              </a:rPr>
              <a:t>Por que planos de acesso ficam ruins?</a:t>
            </a:r>
            <a:endParaRPr lang="pt-BR" sz="3600" b="1" dirty="0">
              <a:solidFill>
                <a:schemeClr val="tx1">
                  <a:lumMod val="65000"/>
                  <a:lumOff val="35000"/>
                </a:schemeClr>
              </a:solidFill>
              <a:latin typeface="+mn-lt"/>
            </a:endParaRPr>
          </a:p>
        </p:txBody>
      </p:sp>
      <p:sp>
        <p:nvSpPr>
          <p:cNvPr id="5" name="Subtitle 2"/>
          <p:cNvSpPr>
            <a:spLocks noGrp="1"/>
          </p:cNvSpPr>
          <p:nvPr>
            <p:ph type="subTitle" idx="1"/>
          </p:nvPr>
        </p:nvSpPr>
        <p:spPr>
          <a:xfrm>
            <a:off x="1952978" y="6382693"/>
            <a:ext cx="6678298" cy="362139"/>
          </a:xfrm>
        </p:spPr>
        <p:txBody>
          <a:bodyPr>
            <a:normAutofit/>
          </a:bodyPr>
          <a:lstStyle/>
          <a:p>
            <a:pPr algn="l">
              <a:lnSpc>
                <a:spcPct val="60000"/>
              </a:lnSpc>
            </a:pPr>
            <a:r>
              <a:rPr lang="pt-BR" dirty="0" smtClean="0">
                <a:solidFill>
                  <a:schemeClr val="tx1">
                    <a:lumMod val="65000"/>
                    <a:lumOff val="35000"/>
                  </a:schemeClr>
                </a:solidFill>
              </a:rPr>
              <a:t>Arthur Heinrich</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Tree>
    <p:extLst>
      <p:ext uri="{BB962C8B-B14F-4D97-AF65-F5344CB8AC3E}">
        <p14:creationId xmlns:p14="http://schemas.microsoft.com/office/powerpoint/2010/main" val="19910809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8"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O que é um plano de acesso?</a:t>
            </a:r>
            <a:endParaRPr lang="pt-BR" sz="2700" dirty="0">
              <a:solidFill>
                <a:schemeClr val="tx1">
                  <a:lumMod val="65000"/>
                  <a:lumOff val="35000"/>
                </a:schemeClr>
              </a:solidFill>
              <a:latin typeface="+mn-lt"/>
            </a:endParaRPr>
          </a:p>
        </p:txBody>
      </p:sp>
      <p:sp>
        <p:nvSpPr>
          <p:cNvPr id="9" name="TextBox 8"/>
          <p:cNvSpPr txBox="1"/>
          <p:nvPr/>
        </p:nvSpPr>
        <p:spPr>
          <a:xfrm>
            <a:off x="1555668" y="1223158"/>
            <a:ext cx="10022774" cy="2308324"/>
          </a:xfrm>
          <a:prstGeom prst="rect">
            <a:avLst/>
          </a:prstGeom>
          <a:noFill/>
        </p:spPr>
        <p:txBody>
          <a:bodyPr wrap="square" rtlCol="0">
            <a:spAutoFit/>
          </a:bodyPr>
          <a:lstStyle/>
          <a:p>
            <a:r>
              <a:rPr lang="pt-BR" sz="2400" dirty="0" smtClean="0"/>
              <a:t>O plano de acesso de uma query de banco de dados é o caminho utilizado pelo banco para acessar os dados e retornar as informações solicitadas.</a:t>
            </a:r>
          </a:p>
          <a:p>
            <a:endParaRPr lang="pt-BR" sz="2400" dirty="0"/>
          </a:p>
          <a:p>
            <a:r>
              <a:rPr lang="pt-BR" sz="2400" dirty="0" smtClean="0"/>
              <a:t>Na maioria das vezes, podemos utilizar vários planos de acesso para obter o mesmo resultado. Porém, dependendo do plano adotado o esforço realizado pode variar drasticamente.</a:t>
            </a:r>
            <a:endParaRPr lang="pt-BR" sz="1600" dirty="0"/>
          </a:p>
        </p:txBody>
      </p:sp>
    </p:spTree>
    <p:extLst>
      <p:ext uri="{BB962C8B-B14F-4D97-AF65-F5344CB8AC3E}">
        <p14:creationId xmlns:p14="http://schemas.microsoft.com/office/powerpoint/2010/main" val="27078910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2"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O que é um plano de acesso?</a:t>
            </a:r>
            <a:endParaRPr lang="pt-BR" sz="2700" dirty="0">
              <a:solidFill>
                <a:schemeClr val="tx1">
                  <a:lumMod val="65000"/>
                  <a:lumOff val="35000"/>
                </a:schemeClr>
              </a:solidFill>
              <a:latin typeface="+mn-lt"/>
            </a:endParaRPr>
          </a:p>
        </p:txBody>
      </p:sp>
      <p:sp>
        <p:nvSpPr>
          <p:cNvPr id="13" name="TextBox 12"/>
          <p:cNvSpPr txBox="1"/>
          <p:nvPr/>
        </p:nvSpPr>
        <p:spPr>
          <a:xfrm>
            <a:off x="1555668" y="1223158"/>
            <a:ext cx="10022774" cy="3046988"/>
          </a:xfrm>
          <a:prstGeom prst="rect">
            <a:avLst/>
          </a:prstGeom>
          <a:noFill/>
        </p:spPr>
        <p:txBody>
          <a:bodyPr wrap="square" rtlCol="0">
            <a:spAutoFit/>
          </a:bodyPr>
          <a:lstStyle/>
          <a:p>
            <a:r>
              <a:rPr lang="pt-BR" sz="2400" dirty="0" smtClean="0"/>
              <a:t>Para entender melhor o conceito, imagine procurar o número de telefone de uma pessoa em uma lista impressa, onde os nomes foram escritos aleatoriamente.</a:t>
            </a:r>
          </a:p>
          <a:p>
            <a:endParaRPr lang="pt-BR" sz="2400" dirty="0"/>
          </a:p>
          <a:p>
            <a:r>
              <a:rPr lang="pt-BR" sz="2400" dirty="0" smtClean="0"/>
              <a:t>Seria necessário procurar pelo nome desejado olhando página por página, linha por linha, até encontrar o nome desejado.</a:t>
            </a:r>
          </a:p>
          <a:p>
            <a:endParaRPr lang="pt-BR" sz="2400" dirty="0"/>
          </a:p>
          <a:p>
            <a:r>
              <a:rPr lang="pt-BR" sz="2400" dirty="0" smtClean="0"/>
              <a:t>É exatamente isso que o banco faz quando executa um FULL SCAN.</a:t>
            </a:r>
            <a:endParaRPr lang="pt-BR" sz="1600" dirty="0"/>
          </a:p>
        </p:txBody>
      </p:sp>
    </p:spTree>
    <p:extLst>
      <p:ext uri="{BB962C8B-B14F-4D97-AF65-F5344CB8AC3E}">
        <p14:creationId xmlns:p14="http://schemas.microsoft.com/office/powerpoint/2010/main" val="40999490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O que é um plano de acesso?</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3416320"/>
          </a:xfrm>
          <a:prstGeom prst="rect">
            <a:avLst/>
          </a:prstGeom>
          <a:noFill/>
        </p:spPr>
        <p:txBody>
          <a:bodyPr wrap="square" rtlCol="0">
            <a:spAutoFit/>
          </a:bodyPr>
          <a:lstStyle/>
          <a:p>
            <a:r>
              <a:rPr lang="pt-BR" sz="2400" dirty="0" smtClean="0"/>
              <a:t>Para resolver este problema, as listas de telefones impressas vinham organizadas em ordem alfabética, permitindo que seus usuários fizessem uma “busca binária”.</a:t>
            </a:r>
          </a:p>
          <a:p>
            <a:endParaRPr lang="pt-BR" sz="2400" dirty="0"/>
          </a:p>
          <a:p>
            <a:r>
              <a:rPr lang="pt-BR" sz="2400" dirty="0" smtClean="0"/>
              <a:t>Este mesmo mecanismo de busca é utilizado em bancos de dados através da utilização de índices, facilitando em muito a localização das informações. É o chamado INDEX SCAN.</a:t>
            </a:r>
          </a:p>
          <a:p>
            <a:endParaRPr lang="pt-BR" sz="2400" dirty="0"/>
          </a:p>
          <a:p>
            <a:r>
              <a:rPr lang="pt-BR" sz="2400" dirty="0" smtClean="0"/>
              <a:t>Porém, as coisas não são tão simples como pode parecer.</a:t>
            </a:r>
            <a:endParaRPr lang="pt-BR" sz="1600" dirty="0"/>
          </a:p>
        </p:txBody>
      </p:sp>
    </p:spTree>
    <p:extLst>
      <p:ext uri="{BB962C8B-B14F-4D97-AF65-F5344CB8AC3E}">
        <p14:creationId xmlns:p14="http://schemas.microsoft.com/office/powerpoint/2010/main" val="22019260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INDEX SCAN </a:t>
            </a:r>
            <a:r>
              <a:rPr lang="pt-BR" sz="5300" b="1" dirty="0" err="1" smtClean="0">
                <a:solidFill>
                  <a:schemeClr val="tx1">
                    <a:lumMod val="65000"/>
                    <a:lumOff val="35000"/>
                  </a:schemeClr>
                </a:solidFill>
                <a:latin typeface="+mn-lt"/>
              </a:rPr>
              <a:t>vs</a:t>
            </a:r>
            <a:r>
              <a:rPr lang="pt-BR" sz="5300" b="1" dirty="0" smtClean="0">
                <a:solidFill>
                  <a:schemeClr val="tx1">
                    <a:lumMod val="65000"/>
                    <a:lumOff val="35000"/>
                  </a:schemeClr>
                </a:solidFill>
                <a:latin typeface="+mn-lt"/>
              </a:rPr>
              <a:t> FULL SCAN</a:t>
            </a:r>
            <a:endParaRPr lang="pt-BR" sz="2700" dirty="0">
              <a:solidFill>
                <a:schemeClr val="tx1">
                  <a:lumMod val="65000"/>
                  <a:lumOff val="35000"/>
                </a:schemeClr>
              </a:solidFill>
              <a:latin typeface="+mn-lt"/>
            </a:endParaRPr>
          </a:p>
        </p:txBody>
      </p:sp>
      <p:sp>
        <p:nvSpPr>
          <p:cNvPr id="19" name="Text Box 5"/>
          <p:cNvSpPr txBox="1">
            <a:spLocks noChangeArrowheads="1"/>
          </p:cNvSpPr>
          <p:nvPr/>
        </p:nvSpPr>
        <p:spPr bwMode="auto">
          <a:xfrm>
            <a:off x="1451986" y="1185286"/>
            <a:ext cx="984681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pt-BR" altLang="pt-BR" sz="2400" dirty="0"/>
              <a:t>No FULL SCAN, o banco lê cada bloco que compõe a tabela uma única vez e processa todas as linhas nele contidas, de uma só vez, podendo descartar o bloco em seguida.</a:t>
            </a:r>
          </a:p>
          <a:p>
            <a:endParaRPr lang="pt-BR" altLang="pt-BR" sz="2400" dirty="0"/>
          </a:p>
          <a:p>
            <a:r>
              <a:rPr lang="pt-BR" altLang="pt-BR" sz="2400" dirty="0"/>
              <a:t>No INDEX SCAN, o banco primeiro acessa uma estrutura separada, para recuperar informações sobre a localização do dado desejado e, só então, efetua a leitura do bloco que contém o dado, processando uma única linha por vez.</a:t>
            </a:r>
          </a:p>
        </p:txBody>
      </p:sp>
      <p:sp>
        <p:nvSpPr>
          <p:cNvPr id="20" name="Rectangle 6"/>
          <p:cNvSpPr>
            <a:spLocks noChangeArrowheads="1"/>
          </p:cNvSpPr>
          <p:nvPr/>
        </p:nvSpPr>
        <p:spPr bwMode="auto">
          <a:xfrm>
            <a:off x="2685519"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21" name="Rectangle 7"/>
          <p:cNvSpPr>
            <a:spLocks noChangeArrowheads="1"/>
          </p:cNvSpPr>
          <p:nvPr/>
        </p:nvSpPr>
        <p:spPr bwMode="auto">
          <a:xfrm>
            <a:off x="2828394"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22" name="Rectangle 8"/>
          <p:cNvSpPr>
            <a:spLocks noChangeArrowheads="1"/>
          </p:cNvSpPr>
          <p:nvPr/>
        </p:nvSpPr>
        <p:spPr bwMode="auto">
          <a:xfrm>
            <a:off x="2972857"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23" name="Rectangle 9"/>
          <p:cNvSpPr>
            <a:spLocks noChangeArrowheads="1"/>
          </p:cNvSpPr>
          <p:nvPr/>
        </p:nvSpPr>
        <p:spPr bwMode="auto">
          <a:xfrm>
            <a:off x="3117319"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24" name="Rectangle 10"/>
          <p:cNvSpPr>
            <a:spLocks noChangeArrowheads="1"/>
          </p:cNvSpPr>
          <p:nvPr/>
        </p:nvSpPr>
        <p:spPr bwMode="auto">
          <a:xfrm>
            <a:off x="3261782"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25" name="Rectangle 11"/>
          <p:cNvSpPr>
            <a:spLocks noChangeArrowheads="1"/>
          </p:cNvSpPr>
          <p:nvPr/>
        </p:nvSpPr>
        <p:spPr bwMode="auto">
          <a:xfrm>
            <a:off x="3404657"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26" name="Rectangle 12"/>
          <p:cNvSpPr>
            <a:spLocks noChangeArrowheads="1"/>
          </p:cNvSpPr>
          <p:nvPr/>
        </p:nvSpPr>
        <p:spPr bwMode="auto">
          <a:xfrm>
            <a:off x="3549119"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27" name="Rectangle 13"/>
          <p:cNvSpPr>
            <a:spLocks noChangeArrowheads="1"/>
          </p:cNvSpPr>
          <p:nvPr/>
        </p:nvSpPr>
        <p:spPr bwMode="auto">
          <a:xfrm>
            <a:off x="3693582"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28" name="Rectangle 14"/>
          <p:cNvSpPr>
            <a:spLocks noChangeArrowheads="1"/>
          </p:cNvSpPr>
          <p:nvPr/>
        </p:nvSpPr>
        <p:spPr bwMode="auto">
          <a:xfrm>
            <a:off x="3838044"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29" name="Rectangle 15"/>
          <p:cNvSpPr>
            <a:spLocks noChangeArrowheads="1"/>
          </p:cNvSpPr>
          <p:nvPr/>
        </p:nvSpPr>
        <p:spPr bwMode="auto">
          <a:xfrm>
            <a:off x="3980919"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30" name="Rectangle 16"/>
          <p:cNvSpPr>
            <a:spLocks noChangeArrowheads="1"/>
          </p:cNvSpPr>
          <p:nvPr/>
        </p:nvSpPr>
        <p:spPr bwMode="auto">
          <a:xfrm>
            <a:off x="4125382"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31" name="Rectangle 17"/>
          <p:cNvSpPr>
            <a:spLocks noChangeArrowheads="1"/>
          </p:cNvSpPr>
          <p:nvPr/>
        </p:nvSpPr>
        <p:spPr bwMode="auto">
          <a:xfrm>
            <a:off x="4269844"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32" name="Rectangle 18"/>
          <p:cNvSpPr>
            <a:spLocks noChangeArrowheads="1"/>
          </p:cNvSpPr>
          <p:nvPr/>
        </p:nvSpPr>
        <p:spPr bwMode="auto">
          <a:xfrm>
            <a:off x="4412719"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33" name="Rectangle 19"/>
          <p:cNvSpPr>
            <a:spLocks noChangeArrowheads="1"/>
          </p:cNvSpPr>
          <p:nvPr/>
        </p:nvSpPr>
        <p:spPr bwMode="auto">
          <a:xfrm>
            <a:off x="4557182"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34" name="Rectangle 20"/>
          <p:cNvSpPr>
            <a:spLocks noChangeArrowheads="1"/>
          </p:cNvSpPr>
          <p:nvPr/>
        </p:nvSpPr>
        <p:spPr bwMode="auto">
          <a:xfrm>
            <a:off x="4701644"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35" name="Rectangle 21"/>
          <p:cNvSpPr>
            <a:spLocks noChangeArrowheads="1"/>
          </p:cNvSpPr>
          <p:nvPr/>
        </p:nvSpPr>
        <p:spPr bwMode="auto">
          <a:xfrm>
            <a:off x="2685519"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36" name="Rectangle 22"/>
          <p:cNvSpPr>
            <a:spLocks noChangeArrowheads="1"/>
          </p:cNvSpPr>
          <p:nvPr/>
        </p:nvSpPr>
        <p:spPr bwMode="auto">
          <a:xfrm>
            <a:off x="2828394"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37" name="Rectangle 23"/>
          <p:cNvSpPr>
            <a:spLocks noChangeArrowheads="1"/>
          </p:cNvSpPr>
          <p:nvPr/>
        </p:nvSpPr>
        <p:spPr bwMode="auto">
          <a:xfrm>
            <a:off x="2972857"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38" name="Rectangle 24"/>
          <p:cNvSpPr>
            <a:spLocks noChangeArrowheads="1"/>
          </p:cNvSpPr>
          <p:nvPr/>
        </p:nvSpPr>
        <p:spPr bwMode="auto">
          <a:xfrm>
            <a:off x="3117319"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39" name="Rectangle 25"/>
          <p:cNvSpPr>
            <a:spLocks noChangeArrowheads="1"/>
          </p:cNvSpPr>
          <p:nvPr/>
        </p:nvSpPr>
        <p:spPr bwMode="auto">
          <a:xfrm>
            <a:off x="3261782"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40" name="Rectangle 26"/>
          <p:cNvSpPr>
            <a:spLocks noChangeArrowheads="1"/>
          </p:cNvSpPr>
          <p:nvPr/>
        </p:nvSpPr>
        <p:spPr bwMode="auto">
          <a:xfrm>
            <a:off x="3404657"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41" name="Rectangle 27"/>
          <p:cNvSpPr>
            <a:spLocks noChangeArrowheads="1"/>
          </p:cNvSpPr>
          <p:nvPr/>
        </p:nvSpPr>
        <p:spPr bwMode="auto">
          <a:xfrm>
            <a:off x="3549119"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42" name="Rectangle 28"/>
          <p:cNvSpPr>
            <a:spLocks noChangeArrowheads="1"/>
          </p:cNvSpPr>
          <p:nvPr/>
        </p:nvSpPr>
        <p:spPr bwMode="auto">
          <a:xfrm>
            <a:off x="3693582"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43" name="Rectangle 29"/>
          <p:cNvSpPr>
            <a:spLocks noChangeArrowheads="1"/>
          </p:cNvSpPr>
          <p:nvPr/>
        </p:nvSpPr>
        <p:spPr bwMode="auto">
          <a:xfrm>
            <a:off x="3838044"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44" name="Rectangle 30"/>
          <p:cNvSpPr>
            <a:spLocks noChangeArrowheads="1"/>
          </p:cNvSpPr>
          <p:nvPr/>
        </p:nvSpPr>
        <p:spPr bwMode="auto">
          <a:xfrm>
            <a:off x="3980919"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45" name="Rectangle 31"/>
          <p:cNvSpPr>
            <a:spLocks noChangeArrowheads="1"/>
          </p:cNvSpPr>
          <p:nvPr/>
        </p:nvSpPr>
        <p:spPr bwMode="auto">
          <a:xfrm>
            <a:off x="4125382"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46" name="Rectangle 32"/>
          <p:cNvSpPr>
            <a:spLocks noChangeArrowheads="1"/>
          </p:cNvSpPr>
          <p:nvPr/>
        </p:nvSpPr>
        <p:spPr bwMode="auto">
          <a:xfrm>
            <a:off x="4269844"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47" name="Rectangle 33"/>
          <p:cNvSpPr>
            <a:spLocks noChangeArrowheads="1"/>
          </p:cNvSpPr>
          <p:nvPr/>
        </p:nvSpPr>
        <p:spPr bwMode="auto">
          <a:xfrm>
            <a:off x="4412719"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48" name="Rectangle 34"/>
          <p:cNvSpPr>
            <a:spLocks noChangeArrowheads="1"/>
          </p:cNvSpPr>
          <p:nvPr/>
        </p:nvSpPr>
        <p:spPr bwMode="auto">
          <a:xfrm>
            <a:off x="4557182"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49" name="Rectangle 35"/>
          <p:cNvSpPr>
            <a:spLocks noChangeArrowheads="1"/>
          </p:cNvSpPr>
          <p:nvPr/>
        </p:nvSpPr>
        <p:spPr bwMode="auto">
          <a:xfrm>
            <a:off x="4701644"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50" name="Rectangle 36"/>
          <p:cNvSpPr>
            <a:spLocks noChangeArrowheads="1"/>
          </p:cNvSpPr>
          <p:nvPr/>
        </p:nvSpPr>
        <p:spPr bwMode="auto">
          <a:xfrm>
            <a:off x="4842932"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51" name="Rectangle 37"/>
          <p:cNvSpPr>
            <a:spLocks noChangeArrowheads="1"/>
          </p:cNvSpPr>
          <p:nvPr/>
        </p:nvSpPr>
        <p:spPr bwMode="auto">
          <a:xfrm>
            <a:off x="4987394" y="59245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52" name="Rectangle 38"/>
          <p:cNvSpPr>
            <a:spLocks noChangeArrowheads="1"/>
          </p:cNvSpPr>
          <p:nvPr/>
        </p:nvSpPr>
        <p:spPr bwMode="auto">
          <a:xfrm>
            <a:off x="4846107"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53" name="Rectangle 39"/>
          <p:cNvSpPr>
            <a:spLocks noChangeArrowheads="1"/>
          </p:cNvSpPr>
          <p:nvPr/>
        </p:nvSpPr>
        <p:spPr bwMode="auto">
          <a:xfrm>
            <a:off x="4990569" y="527686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54" name="Rectangle 40"/>
          <p:cNvSpPr>
            <a:spLocks noChangeArrowheads="1"/>
          </p:cNvSpPr>
          <p:nvPr/>
        </p:nvSpPr>
        <p:spPr bwMode="auto">
          <a:xfrm>
            <a:off x="2972857"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55" name="Rectangle 41"/>
          <p:cNvSpPr>
            <a:spLocks noChangeArrowheads="1"/>
          </p:cNvSpPr>
          <p:nvPr/>
        </p:nvSpPr>
        <p:spPr bwMode="auto">
          <a:xfrm>
            <a:off x="3117319"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56" name="Rectangle 42"/>
          <p:cNvSpPr>
            <a:spLocks noChangeArrowheads="1"/>
          </p:cNvSpPr>
          <p:nvPr/>
        </p:nvSpPr>
        <p:spPr bwMode="auto">
          <a:xfrm>
            <a:off x="3261782"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57" name="Rectangle 43"/>
          <p:cNvSpPr>
            <a:spLocks noChangeArrowheads="1"/>
          </p:cNvSpPr>
          <p:nvPr/>
        </p:nvSpPr>
        <p:spPr bwMode="auto">
          <a:xfrm>
            <a:off x="3404657"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58" name="Rectangle 44"/>
          <p:cNvSpPr>
            <a:spLocks noChangeArrowheads="1"/>
          </p:cNvSpPr>
          <p:nvPr/>
        </p:nvSpPr>
        <p:spPr bwMode="auto">
          <a:xfrm>
            <a:off x="3549119"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59" name="Rectangle 45"/>
          <p:cNvSpPr>
            <a:spLocks noChangeArrowheads="1"/>
          </p:cNvSpPr>
          <p:nvPr/>
        </p:nvSpPr>
        <p:spPr bwMode="auto">
          <a:xfrm>
            <a:off x="3693582"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0" name="Rectangle 46"/>
          <p:cNvSpPr>
            <a:spLocks noChangeArrowheads="1"/>
          </p:cNvSpPr>
          <p:nvPr/>
        </p:nvSpPr>
        <p:spPr bwMode="auto">
          <a:xfrm>
            <a:off x="3838044"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1" name="Rectangle 47"/>
          <p:cNvSpPr>
            <a:spLocks noChangeArrowheads="1"/>
          </p:cNvSpPr>
          <p:nvPr/>
        </p:nvSpPr>
        <p:spPr bwMode="auto">
          <a:xfrm>
            <a:off x="3980919"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2" name="Rectangle 48"/>
          <p:cNvSpPr>
            <a:spLocks noChangeArrowheads="1"/>
          </p:cNvSpPr>
          <p:nvPr/>
        </p:nvSpPr>
        <p:spPr bwMode="auto">
          <a:xfrm>
            <a:off x="4125382"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3" name="Rectangle 49"/>
          <p:cNvSpPr>
            <a:spLocks noChangeArrowheads="1"/>
          </p:cNvSpPr>
          <p:nvPr/>
        </p:nvSpPr>
        <p:spPr bwMode="auto">
          <a:xfrm>
            <a:off x="4269844"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4" name="Rectangle 50"/>
          <p:cNvSpPr>
            <a:spLocks noChangeArrowheads="1"/>
          </p:cNvSpPr>
          <p:nvPr/>
        </p:nvSpPr>
        <p:spPr bwMode="auto">
          <a:xfrm>
            <a:off x="4412719"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5" name="Rectangle 51"/>
          <p:cNvSpPr>
            <a:spLocks noChangeArrowheads="1"/>
          </p:cNvSpPr>
          <p:nvPr/>
        </p:nvSpPr>
        <p:spPr bwMode="auto">
          <a:xfrm>
            <a:off x="4557182"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6" name="Rectangle 52"/>
          <p:cNvSpPr>
            <a:spLocks noChangeArrowheads="1"/>
          </p:cNvSpPr>
          <p:nvPr/>
        </p:nvSpPr>
        <p:spPr bwMode="auto">
          <a:xfrm>
            <a:off x="4701644" y="5132403"/>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7" name="Rectangle 53"/>
          <p:cNvSpPr>
            <a:spLocks noChangeArrowheads="1"/>
          </p:cNvSpPr>
          <p:nvPr/>
        </p:nvSpPr>
        <p:spPr bwMode="auto">
          <a:xfrm>
            <a:off x="3261782" y="49879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8" name="Rectangle 54"/>
          <p:cNvSpPr>
            <a:spLocks noChangeArrowheads="1"/>
          </p:cNvSpPr>
          <p:nvPr/>
        </p:nvSpPr>
        <p:spPr bwMode="auto">
          <a:xfrm>
            <a:off x="3404657" y="49879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69" name="Rectangle 55"/>
          <p:cNvSpPr>
            <a:spLocks noChangeArrowheads="1"/>
          </p:cNvSpPr>
          <p:nvPr/>
        </p:nvSpPr>
        <p:spPr bwMode="auto">
          <a:xfrm>
            <a:off x="3549119" y="49879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70" name="Rectangle 56"/>
          <p:cNvSpPr>
            <a:spLocks noChangeArrowheads="1"/>
          </p:cNvSpPr>
          <p:nvPr/>
        </p:nvSpPr>
        <p:spPr bwMode="auto">
          <a:xfrm>
            <a:off x="3693582" y="49879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71" name="Rectangle 57"/>
          <p:cNvSpPr>
            <a:spLocks noChangeArrowheads="1"/>
          </p:cNvSpPr>
          <p:nvPr/>
        </p:nvSpPr>
        <p:spPr bwMode="auto">
          <a:xfrm>
            <a:off x="3838044" y="49879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72" name="Rectangle 58"/>
          <p:cNvSpPr>
            <a:spLocks noChangeArrowheads="1"/>
          </p:cNvSpPr>
          <p:nvPr/>
        </p:nvSpPr>
        <p:spPr bwMode="auto">
          <a:xfrm>
            <a:off x="3980919" y="49879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73" name="Rectangle 59"/>
          <p:cNvSpPr>
            <a:spLocks noChangeArrowheads="1"/>
          </p:cNvSpPr>
          <p:nvPr/>
        </p:nvSpPr>
        <p:spPr bwMode="auto">
          <a:xfrm>
            <a:off x="4125382" y="49879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74" name="Rectangle 60"/>
          <p:cNvSpPr>
            <a:spLocks noChangeArrowheads="1"/>
          </p:cNvSpPr>
          <p:nvPr/>
        </p:nvSpPr>
        <p:spPr bwMode="auto">
          <a:xfrm>
            <a:off x="4269844" y="49879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75" name="Rectangle 61"/>
          <p:cNvSpPr>
            <a:spLocks noChangeArrowheads="1"/>
          </p:cNvSpPr>
          <p:nvPr/>
        </p:nvSpPr>
        <p:spPr bwMode="auto">
          <a:xfrm>
            <a:off x="4412719" y="49879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76" name="Rectangle 62"/>
          <p:cNvSpPr>
            <a:spLocks noChangeArrowheads="1"/>
          </p:cNvSpPr>
          <p:nvPr/>
        </p:nvSpPr>
        <p:spPr bwMode="auto">
          <a:xfrm>
            <a:off x="3549119" y="48434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77" name="Rectangle 63"/>
          <p:cNvSpPr>
            <a:spLocks noChangeArrowheads="1"/>
          </p:cNvSpPr>
          <p:nvPr/>
        </p:nvSpPr>
        <p:spPr bwMode="auto">
          <a:xfrm>
            <a:off x="3693582" y="48434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78" name="Rectangle 64"/>
          <p:cNvSpPr>
            <a:spLocks noChangeArrowheads="1"/>
          </p:cNvSpPr>
          <p:nvPr/>
        </p:nvSpPr>
        <p:spPr bwMode="auto">
          <a:xfrm>
            <a:off x="3838044" y="48434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79" name="Rectangle 65"/>
          <p:cNvSpPr>
            <a:spLocks noChangeArrowheads="1"/>
          </p:cNvSpPr>
          <p:nvPr/>
        </p:nvSpPr>
        <p:spPr bwMode="auto">
          <a:xfrm>
            <a:off x="3980919" y="48434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80" name="Rectangle 66"/>
          <p:cNvSpPr>
            <a:spLocks noChangeArrowheads="1"/>
          </p:cNvSpPr>
          <p:nvPr/>
        </p:nvSpPr>
        <p:spPr bwMode="auto">
          <a:xfrm>
            <a:off x="4125382" y="48434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81" name="Rectangle 67"/>
          <p:cNvSpPr>
            <a:spLocks noChangeArrowheads="1"/>
          </p:cNvSpPr>
          <p:nvPr/>
        </p:nvSpPr>
        <p:spPr bwMode="auto">
          <a:xfrm>
            <a:off x="3838044" y="469742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82" name="Rectangle 68"/>
          <p:cNvSpPr>
            <a:spLocks noChangeArrowheads="1"/>
          </p:cNvSpPr>
          <p:nvPr/>
        </p:nvSpPr>
        <p:spPr bwMode="auto">
          <a:xfrm>
            <a:off x="5706532"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83" name="Rectangle 69"/>
          <p:cNvSpPr>
            <a:spLocks noChangeArrowheads="1"/>
          </p:cNvSpPr>
          <p:nvPr/>
        </p:nvSpPr>
        <p:spPr bwMode="auto">
          <a:xfrm>
            <a:off x="5849407"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84" name="Rectangle 70"/>
          <p:cNvSpPr>
            <a:spLocks noChangeArrowheads="1"/>
          </p:cNvSpPr>
          <p:nvPr/>
        </p:nvSpPr>
        <p:spPr bwMode="auto">
          <a:xfrm>
            <a:off x="5993869"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85" name="Rectangle 71"/>
          <p:cNvSpPr>
            <a:spLocks noChangeArrowheads="1"/>
          </p:cNvSpPr>
          <p:nvPr/>
        </p:nvSpPr>
        <p:spPr bwMode="auto">
          <a:xfrm>
            <a:off x="6138332"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86" name="Rectangle 72"/>
          <p:cNvSpPr>
            <a:spLocks noChangeArrowheads="1"/>
          </p:cNvSpPr>
          <p:nvPr/>
        </p:nvSpPr>
        <p:spPr bwMode="auto">
          <a:xfrm>
            <a:off x="6282794"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87" name="Rectangle 73"/>
          <p:cNvSpPr>
            <a:spLocks noChangeArrowheads="1"/>
          </p:cNvSpPr>
          <p:nvPr/>
        </p:nvSpPr>
        <p:spPr bwMode="auto">
          <a:xfrm>
            <a:off x="6425669"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88" name="Rectangle 74"/>
          <p:cNvSpPr>
            <a:spLocks noChangeArrowheads="1"/>
          </p:cNvSpPr>
          <p:nvPr/>
        </p:nvSpPr>
        <p:spPr bwMode="auto">
          <a:xfrm>
            <a:off x="6570132"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89" name="Rectangle 75"/>
          <p:cNvSpPr>
            <a:spLocks noChangeArrowheads="1"/>
          </p:cNvSpPr>
          <p:nvPr/>
        </p:nvSpPr>
        <p:spPr bwMode="auto">
          <a:xfrm>
            <a:off x="6714594"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0" name="Rectangle 76"/>
          <p:cNvSpPr>
            <a:spLocks noChangeArrowheads="1"/>
          </p:cNvSpPr>
          <p:nvPr/>
        </p:nvSpPr>
        <p:spPr bwMode="auto">
          <a:xfrm>
            <a:off x="6859057"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1" name="Rectangle 77"/>
          <p:cNvSpPr>
            <a:spLocks noChangeArrowheads="1"/>
          </p:cNvSpPr>
          <p:nvPr/>
        </p:nvSpPr>
        <p:spPr bwMode="auto">
          <a:xfrm>
            <a:off x="7001932"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2" name="Rectangle 78"/>
          <p:cNvSpPr>
            <a:spLocks noChangeArrowheads="1"/>
          </p:cNvSpPr>
          <p:nvPr/>
        </p:nvSpPr>
        <p:spPr bwMode="auto">
          <a:xfrm>
            <a:off x="7146394"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3" name="Rectangle 79"/>
          <p:cNvSpPr>
            <a:spLocks noChangeArrowheads="1"/>
          </p:cNvSpPr>
          <p:nvPr/>
        </p:nvSpPr>
        <p:spPr bwMode="auto">
          <a:xfrm>
            <a:off x="7290857"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4" name="Rectangle 80"/>
          <p:cNvSpPr>
            <a:spLocks noChangeArrowheads="1"/>
          </p:cNvSpPr>
          <p:nvPr/>
        </p:nvSpPr>
        <p:spPr bwMode="auto">
          <a:xfrm>
            <a:off x="7433732"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5" name="Rectangle 81"/>
          <p:cNvSpPr>
            <a:spLocks noChangeArrowheads="1"/>
          </p:cNvSpPr>
          <p:nvPr/>
        </p:nvSpPr>
        <p:spPr bwMode="auto">
          <a:xfrm>
            <a:off x="7578194"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6" name="Rectangle 82"/>
          <p:cNvSpPr>
            <a:spLocks noChangeArrowheads="1"/>
          </p:cNvSpPr>
          <p:nvPr/>
        </p:nvSpPr>
        <p:spPr bwMode="auto">
          <a:xfrm>
            <a:off x="7722657"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7" name="Rectangle 83"/>
          <p:cNvSpPr>
            <a:spLocks noChangeArrowheads="1"/>
          </p:cNvSpPr>
          <p:nvPr/>
        </p:nvSpPr>
        <p:spPr bwMode="auto">
          <a:xfrm>
            <a:off x="5706532"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8" name="Rectangle 84"/>
          <p:cNvSpPr>
            <a:spLocks noChangeArrowheads="1"/>
          </p:cNvSpPr>
          <p:nvPr/>
        </p:nvSpPr>
        <p:spPr bwMode="auto">
          <a:xfrm>
            <a:off x="5849407"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9" name="Rectangle 85"/>
          <p:cNvSpPr>
            <a:spLocks noChangeArrowheads="1"/>
          </p:cNvSpPr>
          <p:nvPr/>
        </p:nvSpPr>
        <p:spPr bwMode="auto">
          <a:xfrm>
            <a:off x="5993869"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00" name="Rectangle 86"/>
          <p:cNvSpPr>
            <a:spLocks noChangeArrowheads="1"/>
          </p:cNvSpPr>
          <p:nvPr/>
        </p:nvSpPr>
        <p:spPr bwMode="auto">
          <a:xfrm>
            <a:off x="6138332"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01" name="Rectangle 87"/>
          <p:cNvSpPr>
            <a:spLocks noChangeArrowheads="1"/>
          </p:cNvSpPr>
          <p:nvPr/>
        </p:nvSpPr>
        <p:spPr bwMode="auto">
          <a:xfrm>
            <a:off x="6282794"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02" name="Rectangle 88"/>
          <p:cNvSpPr>
            <a:spLocks noChangeArrowheads="1"/>
          </p:cNvSpPr>
          <p:nvPr/>
        </p:nvSpPr>
        <p:spPr bwMode="auto">
          <a:xfrm>
            <a:off x="6425669"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03" name="Rectangle 89"/>
          <p:cNvSpPr>
            <a:spLocks noChangeArrowheads="1"/>
          </p:cNvSpPr>
          <p:nvPr/>
        </p:nvSpPr>
        <p:spPr bwMode="auto">
          <a:xfrm>
            <a:off x="6570132"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04" name="Rectangle 90"/>
          <p:cNvSpPr>
            <a:spLocks noChangeArrowheads="1"/>
          </p:cNvSpPr>
          <p:nvPr/>
        </p:nvSpPr>
        <p:spPr bwMode="auto">
          <a:xfrm>
            <a:off x="6714594"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05" name="Rectangle 91"/>
          <p:cNvSpPr>
            <a:spLocks noChangeArrowheads="1"/>
          </p:cNvSpPr>
          <p:nvPr/>
        </p:nvSpPr>
        <p:spPr bwMode="auto">
          <a:xfrm>
            <a:off x="6859057"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06" name="Rectangle 92"/>
          <p:cNvSpPr>
            <a:spLocks noChangeArrowheads="1"/>
          </p:cNvSpPr>
          <p:nvPr/>
        </p:nvSpPr>
        <p:spPr bwMode="auto">
          <a:xfrm>
            <a:off x="7001932"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07" name="Rectangle 93"/>
          <p:cNvSpPr>
            <a:spLocks noChangeArrowheads="1"/>
          </p:cNvSpPr>
          <p:nvPr/>
        </p:nvSpPr>
        <p:spPr bwMode="auto">
          <a:xfrm>
            <a:off x="7146394"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08" name="Rectangle 94"/>
          <p:cNvSpPr>
            <a:spLocks noChangeArrowheads="1"/>
          </p:cNvSpPr>
          <p:nvPr/>
        </p:nvSpPr>
        <p:spPr bwMode="auto">
          <a:xfrm>
            <a:off x="7290857"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09" name="Rectangle 95"/>
          <p:cNvSpPr>
            <a:spLocks noChangeArrowheads="1"/>
          </p:cNvSpPr>
          <p:nvPr/>
        </p:nvSpPr>
        <p:spPr bwMode="auto">
          <a:xfrm>
            <a:off x="7433732"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10" name="Rectangle 96"/>
          <p:cNvSpPr>
            <a:spLocks noChangeArrowheads="1"/>
          </p:cNvSpPr>
          <p:nvPr/>
        </p:nvSpPr>
        <p:spPr bwMode="auto">
          <a:xfrm>
            <a:off x="7578194"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11" name="Rectangle 97"/>
          <p:cNvSpPr>
            <a:spLocks noChangeArrowheads="1"/>
          </p:cNvSpPr>
          <p:nvPr/>
        </p:nvSpPr>
        <p:spPr bwMode="auto">
          <a:xfrm>
            <a:off x="7722657"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12" name="Rectangle 98"/>
          <p:cNvSpPr>
            <a:spLocks noChangeArrowheads="1"/>
          </p:cNvSpPr>
          <p:nvPr/>
        </p:nvSpPr>
        <p:spPr bwMode="auto">
          <a:xfrm>
            <a:off x="7863944"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13" name="Rectangle 99"/>
          <p:cNvSpPr>
            <a:spLocks noChangeArrowheads="1"/>
          </p:cNvSpPr>
          <p:nvPr/>
        </p:nvSpPr>
        <p:spPr bwMode="auto">
          <a:xfrm>
            <a:off x="8008407" y="59277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14" name="Rectangle 100"/>
          <p:cNvSpPr>
            <a:spLocks noChangeArrowheads="1"/>
          </p:cNvSpPr>
          <p:nvPr/>
        </p:nvSpPr>
        <p:spPr bwMode="auto">
          <a:xfrm>
            <a:off x="7867119"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15" name="Rectangle 101"/>
          <p:cNvSpPr>
            <a:spLocks noChangeArrowheads="1"/>
          </p:cNvSpPr>
          <p:nvPr/>
        </p:nvSpPr>
        <p:spPr bwMode="auto">
          <a:xfrm>
            <a:off x="8011582" y="52800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16" name="Rectangle 102"/>
          <p:cNvSpPr>
            <a:spLocks noChangeArrowheads="1"/>
          </p:cNvSpPr>
          <p:nvPr/>
        </p:nvSpPr>
        <p:spPr bwMode="auto">
          <a:xfrm>
            <a:off x="5993869"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17" name="Rectangle 103"/>
          <p:cNvSpPr>
            <a:spLocks noChangeArrowheads="1"/>
          </p:cNvSpPr>
          <p:nvPr/>
        </p:nvSpPr>
        <p:spPr bwMode="auto">
          <a:xfrm>
            <a:off x="6138332"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18" name="Rectangle 104"/>
          <p:cNvSpPr>
            <a:spLocks noChangeArrowheads="1"/>
          </p:cNvSpPr>
          <p:nvPr/>
        </p:nvSpPr>
        <p:spPr bwMode="auto">
          <a:xfrm>
            <a:off x="6282794"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19" name="Rectangle 105"/>
          <p:cNvSpPr>
            <a:spLocks noChangeArrowheads="1"/>
          </p:cNvSpPr>
          <p:nvPr/>
        </p:nvSpPr>
        <p:spPr bwMode="auto">
          <a:xfrm>
            <a:off x="6425669"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20" name="Rectangle 106"/>
          <p:cNvSpPr>
            <a:spLocks noChangeArrowheads="1"/>
          </p:cNvSpPr>
          <p:nvPr/>
        </p:nvSpPr>
        <p:spPr bwMode="auto">
          <a:xfrm>
            <a:off x="6570132"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21" name="Rectangle 107"/>
          <p:cNvSpPr>
            <a:spLocks noChangeArrowheads="1"/>
          </p:cNvSpPr>
          <p:nvPr/>
        </p:nvSpPr>
        <p:spPr bwMode="auto">
          <a:xfrm>
            <a:off x="6714594"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22" name="Rectangle 108"/>
          <p:cNvSpPr>
            <a:spLocks noChangeArrowheads="1"/>
          </p:cNvSpPr>
          <p:nvPr/>
        </p:nvSpPr>
        <p:spPr bwMode="auto">
          <a:xfrm>
            <a:off x="6859057"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23" name="Rectangle 109"/>
          <p:cNvSpPr>
            <a:spLocks noChangeArrowheads="1"/>
          </p:cNvSpPr>
          <p:nvPr/>
        </p:nvSpPr>
        <p:spPr bwMode="auto">
          <a:xfrm>
            <a:off x="7001932"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24" name="Rectangle 110"/>
          <p:cNvSpPr>
            <a:spLocks noChangeArrowheads="1"/>
          </p:cNvSpPr>
          <p:nvPr/>
        </p:nvSpPr>
        <p:spPr bwMode="auto">
          <a:xfrm>
            <a:off x="7146394"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25" name="Rectangle 111"/>
          <p:cNvSpPr>
            <a:spLocks noChangeArrowheads="1"/>
          </p:cNvSpPr>
          <p:nvPr/>
        </p:nvSpPr>
        <p:spPr bwMode="auto">
          <a:xfrm>
            <a:off x="7290857"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26" name="Rectangle 112"/>
          <p:cNvSpPr>
            <a:spLocks noChangeArrowheads="1"/>
          </p:cNvSpPr>
          <p:nvPr/>
        </p:nvSpPr>
        <p:spPr bwMode="auto">
          <a:xfrm>
            <a:off x="7433732"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27" name="Rectangle 113"/>
          <p:cNvSpPr>
            <a:spLocks noChangeArrowheads="1"/>
          </p:cNvSpPr>
          <p:nvPr/>
        </p:nvSpPr>
        <p:spPr bwMode="auto">
          <a:xfrm>
            <a:off x="7578194"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28" name="Rectangle 114"/>
          <p:cNvSpPr>
            <a:spLocks noChangeArrowheads="1"/>
          </p:cNvSpPr>
          <p:nvPr/>
        </p:nvSpPr>
        <p:spPr bwMode="auto">
          <a:xfrm>
            <a:off x="7722657" y="5135578"/>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29" name="Rectangle 115"/>
          <p:cNvSpPr>
            <a:spLocks noChangeArrowheads="1"/>
          </p:cNvSpPr>
          <p:nvPr/>
        </p:nvSpPr>
        <p:spPr bwMode="auto">
          <a:xfrm>
            <a:off x="6282794" y="499111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30" name="Rectangle 116"/>
          <p:cNvSpPr>
            <a:spLocks noChangeArrowheads="1"/>
          </p:cNvSpPr>
          <p:nvPr/>
        </p:nvSpPr>
        <p:spPr bwMode="auto">
          <a:xfrm>
            <a:off x="6425669" y="499111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31" name="Rectangle 117"/>
          <p:cNvSpPr>
            <a:spLocks noChangeArrowheads="1"/>
          </p:cNvSpPr>
          <p:nvPr/>
        </p:nvSpPr>
        <p:spPr bwMode="auto">
          <a:xfrm>
            <a:off x="6570132" y="499111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32" name="Rectangle 118"/>
          <p:cNvSpPr>
            <a:spLocks noChangeArrowheads="1"/>
          </p:cNvSpPr>
          <p:nvPr/>
        </p:nvSpPr>
        <p:spPr bwMode="auto">
          <a:xfrm>
            <a:off x="6714594" y="499111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33" name="Rectangle 119"/>
          <p:cNvSpPr>
            <a:spLocks noChangeArrowheads="1"/>
          </p:cNvSpPr>
          <p:nvPr/>
        </p:nvSpPr>
        <p:spPr bwMode="auto">
          <a:xfrm>
            <a:off x="6859057" y="499111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34" name="Rectangle 120"/>
          <p:cNvSpPr>
            <a:spLocks noChangeArrowheads="1"/>
          </p:cNvSpPr>
          <p:nvPr/>
        </p:nvSpPr>
        <p:spPr bwMode="auto">
          <a:xfrm>
            <a:off x="7001932" y="499111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35" name="Rectangle 121"/>
          <p:cNvSpPr>
            <a:spLocks noChangeArrowheads="1"/>
          </p:cNvSpPr>
          <p:nvPr/>
        </p:nvSpPr>
        <p:spPr bwMode="auto">
          <a:xfrm>
            <a:off x="7146394" y="499111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36" name="Rectangle 122"/>
          <p:cNvSpPr>
            <a:spLocks noChangeArrowheads="1"/>
          </p:cNvSpPr>
          <p:nvPr/>
        </p:nvSpPr>
        <p:spPr bwMode="auto">
          <a:xfrm>
            <a:off x="7290857" y="499111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37" name="Rectangle 123"/>
          <p:cNvSpPr>
            <a:spLocks noChangeArrowheads="1"/>
          </p:cNvSpPr>
          <p:nvPr/>
        </p:nvSpPr>
        <p:spPr bwMode="auto">
          <a:xfrm>
            <a:off x="7433732" y="4991116"/>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38" name="Rectangle 124"/>
          <p:cNvSpPr>
            <a:spLocks noChangeArrowheads="1"/>
          </p:cNvSpPr>
          <p:nvPr/>
        </p:nvSpPr>
        <p:spPr bwMode="auto">
          <a:xfrm>
            <a:off x="6570132" y="484189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39" name="Rectangle 125"/>
          <p:cNvSpPr>
            <a:spLocks noChangeArrowheads="1"/>
          </p:cNvSpPr>
          <p:nvPr/>
        </p:nvSpPr>
        <p:spPr bwMode="auto">
          <a:xfrm>
            <a:off x="6714594" y="484189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40" name="Rectangle 126"/>
          <p:cNvSpPr>
            <a:spLocks noChangeArrowheads="1"/>
          </p:cNvSpPr>
          <p:nvPr/>
        </p:nvSpPr>
        <p:spPr bwMode="auto">
          <a:xfrm>
            <a:off x="6859057" y="484189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41" name="Rectangle 127"/>
          <p:cNvSpPr>
            <a:spLocks noChangeArrowheads="1"/>
          </p:cNvSpPr>
          <p:nvPr/>
        </p:nvSpPr>
        <p:spPr bwMode="auto">
          <a:xfrm>
            <a:off x="7001932" y="484189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42" name="Rectangle 128"/>
          <p:cNvSpPr>
            <a:spLocks noChangeArrowheads="1"/>
          </p:cNvSpPr>
          <p:nvPr/>
        </p:nvSpPr>
        <p:spPr bwMode="auto">
          <a:xfrm>
            <a:off x="7146394" y="484189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43" name="Rectangle 129"/>
          <p:cNvSpPr>
            <a:spLocks noChangeArrowheads="1"/>
          </p:cNvSpPr>
          <p:nvPr/>
        </p:nvSpPr>
        <p:spPr bwMode="auto">
          <a:xfrm>
            <a:off x="6859057" y="4695841"/>
            <a:ext cx="146050" cy="146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44" name="Text Box 130"/>
          <p:cNvSpPr txBox="1">
            <a:spLocks noChangeArrowheads="1"/>
          </p:cNvSpPr>
          <p:nvPr/>
        </p:nvSpPr>
        <p:spPr bwMode="auto">
          <a:xfrm>
            <a:off x="1820332" y="5014928"/>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pt-BR" altLang="pt-BR" sz="1200"/>
              <a:t>blocos</a:t>
            </a:r>
          </a:p>
          <a:p>
            <a:pPr algn="ctr"/>
            <a:r>
              <a:rPr lang="pt-BR" altLang="pt-BR" sz="1200"/>
              <a:t>de índice</a:t>
            </a:r>
          </a:p>
        </p:txBody>
      </p:sp>
      <p:sp>
        <p:nvSpPr>
          <p:cNvPr id="145" name="Text Box 131"/>
          <p:cNvSpPr txBox="1">
            <a:spLocks noChangeArrowheads="1"/>
          </p:cNvSpPr>
          <p:nvPr/>
        </p:nvSpPr>
        <p:spPr bwMode="auto">
          <a:xfrm>
            <a:off x="8181444" y="5011753"/>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pt-BR" altLang="pt-BR" sz="1200"/>
              <a:t>blocos</a:t>
            </a:r>
          </a:p>
          <a:p>
            <a:pPr algn="ctr"/>
            <a:r>
              <a:rPr lang="pt-BR" altLang="pt-BR" sz="1200"/>
              <a:t>de índice</a:t>
            </a:r>
          </a:p>
        </p:txBody>
      </p:sp>
      <p:sp>
        <p:nvSpPr>
          <p:cNvPr id="146" name="Text Box 132"/>
          <p:cNvSpPr txBox="1">
            <a:spLocks noChangeArrowheads="1"/>
          </p:cNvSpPr>
          <p:nvPr/>
        </p:nvSpPr>
        <p:spPr bwMode="auto">
          <a:xfrm>
            <a:off x="8178269" y="5754703"/>
            <a:ext cx="808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pt-BR" altLang="pt-BR" sz="1200"/>
              <a:t>blocos</a:t>
            </a:r>
          </a:p>
          <a:p>
            <a:pPr algn="ctr"/>
            <a:r>
              <a:rPr lang="pt-BR" altLang="pt-BR" sz="1200"/>
              <a:t>de dados</a:t>
            </a:r>
          </a:p>
        </p:txBody>
      </p:sp>
      <p:sp>
        <p:nvSpPr>
          <p:cNvPr id="147" name="Text Box 133"/>
          <p:cNvSpPr txBox="1">
            <a:spLocks noChangeArrowheads="1"/>
          </p:cNvSpPr>
          <p:nvPr/>
        </p:nvSpPr>
        <p:spPr bwMode="auto">
          <a:xfrm>
            <a:off x="1820332" y="5754703"/>
            <a:ext cx="8080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pt-BR" altLang="pt-BR" sz="1200"/>
              <a:t>blocos</a:t>
            </a:r>
          </a:p>
          <a:p>
            <a:pPr algn="ctr"/>
            <a:r>
              <a:rPr lang="pt-BR" altLang="pt-BR" sz="1200"/>
              <a:t>de dados</a:t>
            </a:r>
          </a:p>
        </p:txBody>
      </p:sp>
      <p:sp>
        <p:nvSpPr>
          <p:cNvPr id="148" name="Text Box 134"/>
          <p:cNvSpPr txBox="1">
            <a:spLocks noChangeArrowheads="1"/>
          </p:cNvSpPr>
          <p:nvPr/>
        </p:nvSpPr>
        <p:spPr bwMode="auto">
          <a:xfrm>
            <a:off x="3276069" y="4062428"/>
            <a:ext cx="1273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pt-BR" altLang="pt-BR" sz="1200" i="1" dirty="0"/>
              <a:t>INDEX SCAN</a:t>
            </a:r>
          </a:p>
          <a:p>
            <a:pPr algn="ctr"/>
            <a:r>
              <a:rPr lang="pt-BR" altLang="pt-BR" sz="1200" dirty="0"/>
              <a:t>(1 linha por vez)</a:t>
            </a:r>
          </a:p>
        </p:txBody>
      </p:sp>
      <p:sp>
        <p:nvSpPr>
          <p:cNvPr id="149" name="Text Box 135"/>
          <p:cNvSpPr txBox="1">
            <a:spLocks noChangeArrowheads="1"/>
          </p:cNvSpPr>
          <p:nvPr/>
        </p:nvSpPr>
        <p:spPr bwMode="auto">
          <a:xfrm>
            <a:off x="6274857" y="4051316"/>
            <a:ext cx="1298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pt-BR" altLang="pt-BR" sz="1200" i="1"/>
              <a:t>FULL SCAN</a:t>
            </a:r>
          </a:p>
          <a:p>
            <a:pPr algn="ctr"/>
            <a:r>
              <a:rPr lang="pt-BR" altLang="pt-BR" sz="1200"/>
              <a:t>(todas as linhas)</a:t>
            </a:r>
          </a:p>
        </p:txBody>
      </p:sp>
      <p:sp>
        <p:nvSpPr>
          <p:cNvPr id="150" name="Rectangle 136"/>
          <p:cNvSpPr>
            <a:spLocks noChangeArrowheads="1"/>
          </p:cNvSpPr>
          <p:nvPr/>
        </p:nvSpPr>
        <p:spPr bwMode="auto">
          <a:xfrm>
            <a:off x="3834869" y="4697428"/>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51" name="Rectangle 137"/>
          <p:cNvSpPr>
            <a:spLocks noChangeArrowheads="1"/>
          </p:cNvSpPr>
          <p:nvPr/>
        </p:nvSpPr>
        <p:spPr bwMode="auto">
          <a:xfrm>
            <a:off x="3549119" y="4843478"/>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52" name="Rectangle 138"/>
          <p:cNvSpPr>
            <a:spLocks noChangeArrowheads="1"/>
          </p:cNvSpPr>
          <p:nvPr/>
        </p:nvSpPr>
        <p:spPr bwMode="auto">
          <a:xfrm>
            <a:off x="3693582" y="4987941"/>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53" name="Rectangle 139"/>
          <p:cNvSpPr>
            <a:spLocks noChangeArrowheads="1"/>
          </p:cNvSpPr>
          <p:nvPr/>
        </p:nvSpPr>
        <p:spPr bwMode="auto">
          <a:xfrm>
            <a:off x="3261782" y="513081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54" name="Rectangle 140"/>
          <p:cNvSpPr>
            <a:spLocks noChangeArrowheads="1"/>
          </p:cNvSpPr>
          <p:nvPr/>
        </p:nvSpPr>
        <p:spPr bwMode="auto">
          <a:xfrm>
            <a:off x="3549119" y="5273691"/>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55" name="Rectangle 141"/>
          <p:cNvSpPr>
            <a:spLocks noChangeArrowheads="1"/>
          </p:cNvSpPr>
          <p:nvPr/>
        </p:nvSpPr>
        <p:spPr bwMode="auto">
          <a:xfrm>
            <a:off x="3117319" y="5922978"/>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56" name="Line 142"/>
          <p:cNvSpPr>
            <a:spLocks noChangeShapeType="1"/>
          </p:cNvSpPr>
          <p:nvPr/>
        </p:nvSpPr>
        <p:spPr bwMode="auto">
          <a:xfrm flipH="1">
            <a:off x="3620557" y="4772041"/>
            <a:ext cx="288925" cy="1444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57" name="Line 143"/>
          <p:cNvSpPr>
            <a:spLocks noChangeShapeType="1"/>
          </p:cNvSpPr>
          <p:nvPr/>
        </p:nvSpPr>
        <p:spPr bwMode="auto">
          <a:xfrm>
            <a:off x="3620557" y="4916503"/>
            <a:ext cx="144462" cy="142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58" name="Line 144"/>
          <p:cNvSpPr>
            <a:spLocks noChangeShapeType="1"/>
          </p:cNvSpPr>
          <p:nvPr/>
        </p:nvSpPr>
        <p:spPr bwMode="auto">
          <a:xfrm flipH="1">
            <a:off x="3333219" y="5059378"/>
            <a:ext cx="431800" cy="1444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59" name="Line 145"/>
          <p:cNvSpPr>
            <a:spLocks noChangeShapeType="1"/>
          </p:cNvSpPr>
          <p:nvPr/>
        </p:nvSpPr>
        <p:spPr bwMode="auto">
          <a:xfrm>
            <a:off x="3333219" y="5203841"/>
            <a:ext cx="287338" cy="1444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60" name="Line 146"/>
          <p:cNvSpPr>
            <a:spLocks noChangeShapeType="1"/>
          </p:cNvSpPr>
          <p:nvPr/>
        </p:nvSpPr>
        <p:spPr bwMode="auto">
          <a:xfrm flipH="1">
            <a:off x="3188757" y="5348303"/>
            <a:ext cx="431800" cy="647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61" name="Rectangle 147"/>
          <p:cNvSpPr>
            <a:spLocks noChangeArrowheads="1"/>
          </p:cNvSpPr>
          <p:nvPr/>
        </p:nvSpPr>
        <p:spPr bwMode="auto">
          <a:xfrm>
            <a:off x="5706532" y="5922978"/>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62" name="Rectangle 148"/>
          <p:cNvSpPr>
            <a:spLocks noChangeArrowheads="1"/>
          </p:cNvSpPr>
          <p:nvPr/>
        </p:nvSpPr>
        <p:spPr bwMode="auto">
          <a:xfrm>
            <a:off x="5852582"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63" name="Rectangle 149"/>
          <p:cNvSpPr>
            <a:spLocks noChangeArrowheads="1"/>
          </p:cNvSpPr>
          <p:nvPr/>
        </p:nvSpPr>
        <p:spPr bwMode="auto">
          <a:xfrm>
            <a:off x="5997044" y="5922978"/>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64" name="Rectangle 150"/>
          <p:cNvSpPr>
            <a:spLocks noChangeArrowheads="1"/>
          </p:cNvSpPr>
          <p:nvPr/>
        </p:nvSpPr>
        <p:spPr bwMode="auto">
          <a:xfrm>
            <a:off x="6141507"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65" name="Rectangle 151"/>
          <p:cNvSpPr>
            <a:spLocks noChangeArrowheads="1"/>
          </p:cNvSpPr>
          <p:nvPr/>
        </p:nvSpPr>
        <p:spPr bwMode="auto">
          <a:xfrm>
            <a:off x="6285969"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66" name="Rectangle 152"/>
          <p:cNvSpPr>
            <a:spLocks noChangeArrowheads="1"/>
          </p:cNvSpPr>
          <p:nvPr/>
        </p:nvSpPr>
        <p:spPr bwMode="auto">
          <a:xfrm>
            <a:off x="6428844"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67" name="Rectangle 153"/>
          <p:cNvSpPr>
            <a:spLocks noChangeArrowheads="1"/>
          </p:cNvSpPr>
          <p:nvPr/>
        </p:nvSpPr>
        <p:spPr bwMode="auto">
          <a:xfrm>
            <a:off x="6573307"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68" name="Rectangle 154"/>
          <p:cNvSpPr>
            <a:spLocks noChangeArrowheads="1"/>
          </p:cNvSpPr>
          <p:nvPr/>
        </p:nvSpPr>
        <p:spPr bwMode="auto">
          <a:xfrm>
            <a:off x="6717769"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69" name="Rectangle 155"/>
          <p:cNvSpPr>
            <a:spLocks noChangeArrowheads="1"/>
          </p:cNvSpPr>
          <p:nvPr/>
        </p:nvSpPr>
        <p:spPr bwMode="auto">
          <a:xfrm>
            <a:off x="6860644"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0" name="Rectangle 156"/>
          <p:cNvSpPr>
            <a:spLocks noChangeArrowheads="1"/>
          </p:cNvSpPr>
          <p:nvPr/>
        </p:nvSpPr>
        <p:spPr bwMode="auto">
          <a:xfrm>
            <a:off x="7005107"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1" name="Rectangle 157"/>
          <p:cNvSpPr>
            <a:spLocks noChangeArrowheads="1"/>
          </p:cNvSpPr>
          <p:nvPr/>
        </p:nvSpPr>
        <p:spPr bwMode="auto">
          <a:xfrm>
            <a:off x="7149569"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2" name="Rectangle 158"/>
          <p:cNvSpPr>
            <a:spLocks noChangeArrowheads="1"/>
          </p:cNvSpPr>
          <p:nvPr/>
        </p:nvSpPr>
        <p:spPr bwMode="auto">
          <a:xfrm>
            <a:off x="7294032"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3" name="Rectangle 159"/>
          <p:cNvSpPr>
            <a:spLocks noChangeArrowheads="1"/>
          </p:cNvSpPr>
          <p:nvPr/>
        </p:nvSpPr>
        <p:spPr bwMode="auto">
          <a:xfrm>
            <a:off x="7436907"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4" name="Rectangle 160"/>
          <p:cNvSpPr>
            <a:spLocks noChangeArrowheads="1"/>
          </p:cNvSpPr>
          <p:nvPr/>
        </p:nvSpPr>
        <p:spPr bwMode="auto">
          <a:xfrm>
            <a:off x="7581369"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5" name="Rectangle 161"/>
          <p:cNvSpPr>
            <a:spLocks noChangeArrowheads="1"/>
          </p:cNvSpPr>
          <p:nvPr/>
        </p:nvSpPr>
        <p:spPr bwMode="auto">
          <a:xfrm>
            <a:off x="7725832"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6" name="Rectangle 162"/>
          <p:cNvSpPr>
            <a:spLocks noChangeArrowheads="1"/>
          </p:cNvSpPr>
          <p:nvPr/>
        </p:nvSpPr>
        <p:spPr bwMode="auto">
          <a:xfrm>
            <a:off x="7870294"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 name="Rectangle 163"/>
          <p:cNvSpPr>
            <a:spLocks noChangeArrowheads="1"/>
          </p:cNvSpPr>
          <p:nvPr/>
        </p:nvSpPr>
        <p:spPr bwMode="auto">
          <a:xfrm>
            <a:off x="8013169" y="5924566"/>
            <a:ext cx="146050" cy="146050"/>
          </a:xfrm>
          <a:prstGeom prst="rect">
            <a:avLst/>
          </a:prstGeom>
          <a:solidFill>
            <a:srgbClr val="FE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Tree>
    <p:extLst>
      <p:ext uri="{BB962C8B-B14F-4D97-AF65-F5344CB8AC3E}">
        <p14:creationId xmlns:p14="http://schemas.microsoft.com/office/powerpoint/2010/main" val="269282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
                                        </p:tgtEl>
                                        <p:attrNameLst>
                                          <p:attrName>style.visibility</p:attrName>
                                        </p:attrNameLst>
                                      </p:cBhvr>
                                      <p:to>
                                        <p:strVal val="visible"/>
                                      </p:to>
                                    </p:set>
                                  </p:childTnLst>
                                </p:cTn>
                              </p:par>
                              <p:par>
                                <p:cTn id="7" presetID="1" presetClass="entr" presetSubtype="0" fill="hold" grpId="0" nodeType="withEffect">
                                  <p:stCondLst>
                                    <p:cond delay="500"/>
                                  </p:stCondLst>
                                  <p:childTnLst>
                                    <p:set>
                                      <p:cBhvr>
                                        <p:cTn id="8" dur="1" fill="hold">
                                          <p:stCondLst>
                                            <p:cond delay="0"/>
                                          </p:stCondLst>
                                        </p:cTn>
                                        <p:tgtEl>
                                          <p:spTgt spid="156"/>
                                        </p:tgtEl>
                                        <p:attrNameLst>
                                          <p:attrName>style.visibility</p:attrName>
                                        </p:attrNameLst>
                                      </p:cBhvr>
                                      <p:to>
                                        <p:strVal val="visible"/>
                                      </p:to>
                                    </p:set>
                                  </p:childTnLst>
                                </p:cTn>
                              </p:par>
                              <p:par>
                                <p:cTn id="9" presetID="1" presetClass="entr" presetSubtype="0" fill="hold" grpId="0" nodeType="withEffect">
                                  <p:stCondLst>
                                    <p:cond delay="1000"/>
                                  </p:stCondLst>
                                  <p:childTnLst>
                                    <p:set>
                                      <p:cBhvr>
                                        <p:cTn id="10" dur="1" fill="hold">
                                          <p:stCondLst>
                                            <p:cond delay="0"/>
                                          </p:stCondLst>
                                        </p:cTn>
                                        <p:tgtEl>
                                          <p:spTgt spid="151"/>
                                        </p:tgtEl>
                                        <p:attrNameLst>
                                          <p:attrName>style.visibility</p:attrName>
                                        </p:attrNameLst>
                                      </p:cBhvr>
                                      <p:to>
                                        <p:strVal val="visible"/>
                                      </p:to>
                                    </p:set>
                                  </p:childTnLst>
                                </p:cTn>
                              </p:par>
                              <p:par>
                                <p:cTn id="11" presetID="1" presetClass="entr" presetSubtype="0" fill="hold" grpId="0" nodeType="withEffect">
                                  <p:stCondLst>
                                    <p:cond delay="1500"/>
                                  </p:stCondLst>
                                  <p:childTnLst>
                                    <p:set>
                                      <p:cBhvr>
                                        <p:cTn id="12" dur="1" fill="hold">
                                          <p:stCondLst>
                                            <p:cond delay="0"/>
                                          </p:stCondLst>
                                        </p:cTn>
                                        <p:tgtEl>
                                          <p:spTgt spid="157"/>
                                        </p:tgtEl>
                                        <p:attrNameLst>
                                          <p:attrName>style.visibility</p:attrName>
                                        </p:attrNameLst>
                                      </p:cBhvr>
                                      <p:to>
                                        <p:strVal val="visible"/>
                                      </p:to>
                                    </p:set>
                                  </p:childTnLst>
                                </p:cTn>
                              </p:par>
                              <p:par>
                                <p:cTn id="13" presetID="1" presetClass="entr" presetSubtype="0" fill="hold" grpId="0" nodeType="withEffect">
                                  <p:stCondLst>
                                    <p:cond delay="2000"/>
                                  </p:stCondLst>
                                  <p:childTnLst>
                                    <p:set>
                                      <p:cBhvr>
                                        <p:cTn id="14" dur="1" fill="hold">
                                          <p:stCondLst>
                                            <p:cond delay="0"/>
                                          </p:stCondLst>
                                        </p:cTn>
                                        <p:tgtEl>
                                          <p:spTgt spid="152"/>
                                        </p:tgtEl>
                                        <p:attrNameLst>
                                          <p:attrName>style.visibility</p:attrName>
                                        </p:attrNameLst>
                                      </p:cBhvr>
                                      <p:to>
                                        <p:strVal val="visible"/>
                                      </p:to>
                                    </p:set>
                                  </p:childTnLst>
                                </p:cTn>
                              </p:par>
                              <p:par>
                                <p:cTn id="15" presetID="1" presetClass="entr" presetSubtype="0" fill="hold" grpId="0" nodeType="withEffect">
                                  <p:stCondLst>
                                    <p:cond delay="2500"/>
                                  </p:stCondLst>
                                  <p:childTnLst>
                                    <p:set>
                                      <p:cBhvr>
                                        <p:cTn id="16" dur="1" fill="hold">
                                          <p:stCondLst>
                                            <p:cond delay="0"/>
                                          </p:stCondLst>
                                        </p:cTn>
                                        <p:tgtEl>
                                          <p:spTgt spid="158"/>
                                        </p:tgtEl>
                                        <p:attrNameLst>
                                          <p:attrName>style.visibility</p:attrName>
                                        </p:attrNameLst>
                                      </p:cBhvr>
                                      <p:to>
                                        <p:strVal val="visible"/>
                                      </p:to>
                                    </p:set>
                                  </p:childTnLst>
                                </p:cTn>
                              </p:par>
                              <p:par>
                                <p:cTn id="17" presetID="1" presetClass="entr" presetSubtype="0" fill="hold" grpId="0" nodeType="withEffect">
                                  <p:stCondLst>
                                    <p:cond delay="3000"/>
                                  </p:stCondLst>
                                  <p:childTnLst>
                                    <p:set>
                                      <p:cBhvr>
                                        <p:cTn id="18" dur="1" fill="hold">
                                          <p:stCondLst>
                                            <p:cond delay="0"/>
                                          </p:stCondLst>
                                        </p:cTn>
                                        <p:tgtEl>
                                          <p:spTgt spid="153"/>
                                        </p:tgtEl>
                                        <p:attrNameLst>
                                          <p:attrName>style.visibility</p:attrName>
                                        </p:attrNameLst>
                                      </p:cBhvr>
                                      <p:to>
                                        <p:strVal val="visible"/>
                                      </p:to>
                                    </p:set>
                                  </p:childTnLst>
                                </p:cTn>
                              </p:par>
                              <p:par>
                                <p:cTn id="19" presetID="1" presetClass="entr" presetSubtype="0" fill="hold" grpId="0" nodeType="withEffect">
                                  <p:stCondLst>
                                    <p:cond delay="3500"/>
                                  </p:stCondLst>
                                  <p:childTnLst>
                                    <p:set>
                                      <p:cBhvr>
                                        <p:cTn id="20" dur="1" fill="hold">
                                          <p:stCondLst>
                                            <p:cond delay="0"/>
                                          </p:stCondLst>
                                        </p:cTn>
                                        <p:tgtEl>
                                          <p:spTgt spid="159"/>
                                        </p:tgtEl>
                                        <p:attrNameLst>
                                          <p:attrName>style.visibility</p:attrName>
                                        </p:attrNameLst>
                                      </p:cBhvr>
                                      <p:to>
                                        <p:strVal val="visible"/>
                                      </p:to>
                                    </p:set>
                                  </p:childTnLst>
                                </p:cTn>
                              </p:par>
                              <p:par>
                                <p:cTn id="21" presetID="1" presetClass="entr" presetSubtype="0" fill="hold" grpId="0" nodeType="withEffect">
                                  <p:stCondLst>
                                    <p:cond delay="4000"/>
                                  </p:stCondLst>
                                  <p:childTnLst>
                                    <p:set>
                                      <p:cBhvr>
                                        <p:cTn id="22" dur="1" fill="hold">
                                          <p:stCondLst>
                                            <p:cond delay="0"/>
                                          </p:stCondLst>
                                        </p:cTn>
                                        <p:tgtEl>
                                          <p:spTgt spid="154"/>
                                        </p:tgtEl>
                                        <p:attrNameLst>
                                          <p:attrName>style.visibility</p:attrName>
                                        </p:attrNameLst>
                                      </p:cBhvr>
                                      <p:to>
                                        <p:strVal val="visible"/>
                                      </p:to>
                                    </p:set>
                                  </p:childTnLst>
                                </p:cTn>
                              </p:par>
                              <p:par>
                                <p:cTn id="23" presetID="1" presetClass="entr" presetSubtype="0" fill="hold" grpId="0" nodeType="withEffect">
                                  <p:stCondLst>
                                    <p:cond delay="4500"/>
                                  </p:stCondLst>
                                  <p:childTnLst>
                                    <p:set>
                                      <p:cBhvr>
                                        <p:cTn id="24" dur="1" fill="hold">
                                          <p:stCondLst>
                                            <p:cond delay="0"/>
                                          </p:stCondLst>
                                        </p:cTn>
                                        <p:tgtEl>
                                          <p:spTgt spid="160"/>
                                        </p:tgtEl>
                                        <p:attrNameLst>
                                          <p:attrName>style.visibility</p:attrName>
                                        </p:attrNameLst>
                                      </p:cBhvr>
                                      <p:to>
                                        <p:strVal val="visible"/>
                                      </p:to>
                                    </p:set>
                                  </p:childTnLst>
                                </p:cTn>
                              </p:par>
                              <p:par>
                                <p:cTn id="25" presetID="1" presetClass="entr" presetSubtype="0" fill="hold" grpId="0" nodeType="withEffect">
                                  <p:stCondLst>
                                    <p:cond delay="5000"/>
                                  </p:stCondLst>
                                  <p:childTnLst>
                                    <p:set>
                                      <p:cBhvr>
                                        <p:cTn id="26" dur="1" fill="hold">
                                          <p:stCondLst>
                                            <p:cond delay="0"/>
                                          </p:stCondLst>
                                        </p:cTn>
                                        <p:tgtEl>
                                          <p:spTgt spid="1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1"/>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500"/>
                                  </p:stCondLst>
                                  <p:childTnLst>
                                    <p:set>
                                      <p:cBhvr>
                                        <p:cTn id="33" dur="1" fill="hold">
                                          <p:stCondLst>
                                            <p:cond delay="0"/>
                                          </p:stCondLst>
                                        </p:cTn>
                                        <p:tgtEl>
                                          <p:spTgt spid="162"/>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grpId="0" nodeType="afterEffect">
                                  <p:stCondLst>
                                    <p:cond delay="500"/>
                                  </p:stCondLst>
                                  <p:childTnLst>
                                    <p:set>
                                      <p:cBhvr>
                                        <p:cTn id="36" dur="1" fill="hold">
                                          <p:stCondLst>
                                            <p:cond delay="0"/>
                                          </p:stCondLst>
                                        </p:cTn>
                                        <p:tgtEl>
                                          <p:spTgt spid="163"/>
                                        </p:tgtEl>
                                        <p:attrNameLst>
                                          <p:attrName>style.visibility</p:attrName>
                                        </p:attrNameLst>
                                      </p:cBhvr>
                                      <p:to>
                                        <p:strVal val="visible"/>
                                      </p:to>
                                    </p:set>
                                  </p:childTnLst>
                                </p:cTn>
                              </p:par>
                            </p:childTnLst>
                          </p:cTn>
                        </p:par>
                        <p:par>
                          <p:cTn id="37" fill="hold">
                            <p:stCondLst>
                              <p:cond delay="1000"/>
                            </p:stCondLst>
                            <p:childTnLst>
                              <p:par>
                                <p:cTn id="38" presetID="1" presetClass="entr" presetSubtype="0" fill="hold" grpId="0" nodeType="afterEffect">
                                  <p:stCondLst>
                                    <p:cond delay="500"/>
                                  </p:stCondLst>
                                  <p:childTnLst>
                                    <p:set>
                                      <p:cBhvr>
                                        <p:cTn id="39" dur="1" fill="hold">
                                          <p:stCondLst>
                                            <p:cond delay="0"/>
                                          </p:stCondLst>
                                        </p:cTn>
                                        <p:tgtEl>
                                          <p:spTgt spid="164"/>
                                        </p:tgtEl>
                                        <p:attrNameLst>
                                          <p:attrName>style.visibility</p:attrName>
                                        </p:attrNameLst>
                                      </p:cBhvr>
                                      <p:to>
                                        <p:strVal val="visible"/>
                                      </p:to>
                                    </p:set>
                                  </p:childTnLst>
                                </p:cTn>
                              </p:par>
                            </p:childTnLst>
                          </p:cTn>
                        </p:par>
                        <p:par>
                          <p:cTn id="40" fill="hold">
                            <p:stCondLst>
                              <p:cond delay="1500"/>
                            </p:stCondLst>
                            <p:childTnLst>
                              <p:par>
                                <p:cTn id="41" presetID="1" presetClass="entr" presetSubtype="0" fill="hold" grpId="0" nodeType="afterEffect">
                                  <p:stCondLst>
                                    <p:cond delay="500"/>
                                  </p:stCondLst>
                                  <p:childTnLst>
                                    <p:set>
                                      <p:cBhvr>
                                        <p:cTn id="42" dur="1" fill="hold">
                                          <p:stCondLst>
                                            <p:cond delay="0"/>
                                          </p:stCondLst>
                                        </p:cTn>
                                        <p:tgtEl>
                                          <p:spTgt spid="165"/>
                                        </p:tgtEl>
                                        <p:attrNameLst>
                                          <p:attrName>style.visibility</p:attrName>
                                        </p:attrNameLst>
                                      </p:cBhvr>
                                      <p:to>
                                        <p:strVal val="visible"/>
                                      </p:to>
                                    </p:set>
                                  </p:childTnLst>
                                </p:cTn>
                              </p:par>
                            </p:childTnLst>
                          </p:cTn>
                        </p:par>
                        <p:par>
                          <p:cTn id="43" fill="hold">
                            <p:stCondLst>
                              <p:cond delay="2000"/>
                            </p:stCondLst>
                            <p:childTnLst>
                              <p:par>
                                <p:cTn id="44" presetID="1" presetClass="entr" presetSubtype="0" fill="hold" grpId="0" nodeType="afterEffect">
                                  <p:stCondLst>
                                    <p:cond delay="500"/>
                                  </p:stCondLst>
                                  <p:childTnLst>
                                    <p:set>
                                      <p:cBhvr>
                                        <p:cTn id="45" dur="1" fill="hold">
                                          <p:stCondLst>
                                            <p:cond delay="0"/>
                                          </p:stCondLst>
                                        </p:cTn>
                                        <p:tgtEl>
                                          <p:spTgt spid="166"/>
                                        </p:tgtEl>
                                        <p:attrNameLst>
                                          <p:attrName>style.visibility</p:attrName>
                                        </p:attrNameLst>
                                      </p:cBhvr>
                                      <p:to>
                                        <p:strVal val="visible"/>
                                      </p:to>
                                    </p:set>
                                  </p:childTnLst>
                                </p:cTn>
                              </p:par>
                            </p:childTnLst>
                          </p:cTn>
                        </p:par>
                        <p:par>
                          <p:cTn id="46" fill="hold">
                            <p:stCondLst>
                              <p:cond delay="2500"/>
                            </p:stCondLst>
                            <p:childTnLst>
                              <p:par>
                                <p:cTn id="47" presetID="1" presetClass="entr" presetSubtype="0" fill="hold" grpId="0" nodeType="afterEffect">
                                  <p:stCondLst>
                                    <p:cond delay="500"/>
                                  </p:stCondLst>
                                  <p:childTnLst>
                                    <p:set>
                                      <p:cBhvr>
                                        <p:cTn id="48" dur="1" fill="hold">
                                          <p:stCondLst>
                                            <p:cond delay="0"/>
                                          </p:stCondLst>
                                        </p:cTn>
                                        <p:tgtEl>
                                          <p:spTgt spid="167"/>
                                        </p:tgtEl>
                                        <p:attrNameLst>
                                          <p:attrName>style.visibility</p:attrName>
                                        </p:attrNameLst>
                                      </p:cBhvr>
                                      <p:to>
                                        <p:strVal val="visible"/>
                                      </p:to>
                                    </p:set>
                                  </p:childTnLst>
                                </p:cTn>
                              </p:par>
                            </p:childTnLst>
                          </p:cTn>
                        </p:par>
                        <p:par>
                          <p:cTn id="49" fill="hold">
                            <p:stCondLst>
                              <p:cond delay="3000"/>
                            </p:stCondLst>
                            <p:childTnLst>
                              <p:par>
                                <p:cTn id="50" presetID="1" presetClass="entr" presetSubtype="0" fill="hold" grpId="0" nodeType="afterEffect">
                                  <p:stCondLst>
                                    <p:cond delay="500"/>
                                  </p:stCondLst>
                                  <p:childTnLst>
                                    <p:set>
                                      <p:cBhvr>
                                        <p:cTn id="51" dur="1" fill="hold">
                                          <p:stCondLst>
                                            <p:cond delay="0"/>
                                          </p:stCondLst>
                                        </p:cTn>
                                        <p:tgtEl>
                                          <p:spTgt spid="168"/>
                                        </p:tgtEl>
                                        <p:attrNameLst>
                                          <p:attrName>style.visibility</p:attrName>
                                        </p:attrNameLst>
                                      </p:cBhvr>
                                      <p:to>
                                        <p:strVal val="visible"/>
                                      </p:to>
                                    </p:set>
                                  </p:childTnLst>
                                </p:cTn>
                              </p:par>
                            </p:childTnLst>
                          </p:cTn>
                        </p:par>
                        <p:par>
                          <p:cTn id="52" fill="hold">
                            <p:stCondLst>
                              <p:cond delay="3500"/>
                            </p:stCondLst>
                            <p:childTnLst>
                              <p:par>
                                <p:cTn id="53" presetID="1" presetClass="entr" presetSubtype="0" fill="hold" grpId="0" nodeType="afterEffect">
                                  <p:stCondLst>
                                    <p:cond delay="500"/>
                                  </p:stCondLst>
                                  <p:childTnLst>
                                    <p:set>
                                      <p:cBhvr>
                                        <p:cTn id="54" dur="1" fill="hold">
                                          <p:stCondLst>
                                            <p:cond delay="0"/>
                                          </p:stCondLst>
                                        </p:cTn>
                                        <p:tgtEl>
                                          <p:spTgt spid="169"/>
                                        </p:tgtEl>
                                        <p:attrNameLst>
                                          <p:attrName>style.visibility</p:attrName>
                                        </p:attrNameLst>
                                      </p:cBhvr>
                                      <p:to>
                                        <p:strVal val="visible"/>
                                      </p:to>
                                    </p:set>
                                  </p:childTnLst>
                                </p:cTn>
                              </p:par>
                            </p:childTnLst>
                          </p:cTn>
                        </p:par>
                        <p:par>
                          <p:cTn id="55" fill="hold">
                            <p:stCondLst>
                              <p:cond delay="4000"/>
                            </p:stCondLst>
                            <p:childTnLst>
                              <p:par>
                                <p:cTn id="56" presetID="1" presetClass="entr" presetSubtype="0" fill="hold" grpId="0" nodeType="afterEffect">
                                  <p:stCondLst>
                                    <p:cond delay="500"/>
                                  </p:stCondLst>
                                  <p:childTnLst>
                                    <p:set>
                                      <p:cBhvr>
                                        <p:cTn id="57" dur="1" fill="hold">
                                          <p:stCondLst>
                                            <p:cond delay="0"/>
                                          </p:stCondLst>
                                        </p:cTn>
                                        <p:tgtEl>
                                          <p:spTgt spid="170"/>
                                        </p:tgtEl>
                                        <p:attrNameLst>
                                          <p:attrName>style.visibility</p:attrName>
                                        </p:attrNameLst>
                                      </p:cBhvr>
                                      <p:to>
                                        <p:strVal val="visible"/>
                                      </p:to>
                                    </p:set>
                                  </p:childTnLst>
                                </p:cTn>
                              </p:par>
                            </p:childTnLst>
                          </p:cTn>
                        </p:par>
                        <p:par>
                          <p:cTn id="58" fill="hold">
                            <p:stCondLst>
                              <p:cond delay="4500"/>
                            </p:stCondLst>
                            <p:childTnLst>
                              <p:par>
                                <p:cTn id="59" presetID="1" presetClass="entr" presetSubtype="0" fill="hold" grpId="0" nodeType="afterEffect">
                                  <p:stCondLst>
                                    <p:cond delay="500"/>
                                  </p:stCondLst>
                                  <p:childTnLst>
                                    <p:set>
                                      <p:cBhvr>
                                        <p:cTn id="60" dur="1" fill="hold">
                                          <p:stCondLst>
                                            <p:cond delay="0"/>
                                          </p:stCondLst>
                                        </p:cTn>
                                        <p:tgtEl>
                                          <p:spTgt spid="171"/>
                                        </p:tgtEl>
                                        <p:attrNameLst>
                                          <p:attrName>style.visibility</p:attrName>
                                        </p:attrNameLst>
                                      </p:cBhvr>
                                      <p:to>
                                        <p:strVal val="visible"/>
                                      </p:to>
                                    </p:set>
                                  </p:childTnLst>
                                </p:cTn>
                              </p:par>
                            </p:childTnLst>
                          </p:cTn>
                        </p:par>
                        <p:par>
                          <p:cTn id="61" fill="hold">
                            <p:stCondLst>
                              <p:cond delay="5000"/>
                            </p:stCondLst>
                            <p:childTnLst>
                              <p:par>
                                <p:cTn id="62" presetID="1" presetClass="entr" presetSubtype="0" fill="hold" grpId="0" nodeType="afterEffect">
                                  <p:stCondLst>
                                    <p:cond delay="500"/>
                                  </p:stCondLst>
                                  <p:childTnLst>
                                    <p:set>
                                      <p:cBhvr>
                                        <p:cTn id="63" dur="1" fill="hold">
                                          <p:stCondLst>
                                            <p:cond delay="0"/>
                                          </p:stCondLst>
                                        </p:cTn>
                                        <p:tgtEl>
                                          <p:spTgt spid="172"/>
                                        </p:tgtEl>
                                        <p:attrNameLst>
                                          <p:attrName>style.visibility</p:attrName>
                                        </p:attrNameLst>
                                      </p:cBhvr>
                                      <p:to>
                                        <p:strVal val="visible"/>
                                      </p:to>
                                    </p:set>
                                  </p:childTnLst>
                                </p:cTn>
                              </p:par>
                            </p:childTnLst>
                          </p:cTn>
                        </p:par>
                        <p:par>
                          <p:cTn id="64" fill="hold">
                            <p:stCondLst>
                              <p:cond delay="5500"/>
                            </p:stCondLst>
                            <p:childTnLst>
                              <p:par>
                                <p:cTn id="65" presetID="1" presetClass="entr" presetSubtype="0" fill="hold" grpId="0" nodeType="afterEffect">
                                  <p:stCondLst>
                                    <p:cond delay="500"/>
                                  </p:stCondLst>
                                  <p:childTnLst>
                                    <p:set>
                                      <p:cBhvr>
                                        <p:cTn id="66" dur="1" fill="hold">
                                          <p:stCondLst>
                                            <p:cond delay="0"/>
                                          </p:stCondLst>
                                        </p:cTn>
                                        <p:tgtEl>
                                          <p:spTgt spid="173"/>
                                        </p:tgtEl>
                                        <p:attrNameLst>
                                          <p:attrName>style.visibility</p:attrName>
                                        </p:attrNameLst>
                                      </p:cBhvr>
                                      <p:to>
                                        <p:strVal val="visible"/>
                                      </p:to>
                                    </p:set>
                                  </p:childTnLst>
                                </p:cTn>
                              </p:par>
                            </p:childTnLst>
                          </p:cTn>
                        </p:par>
                        <p:par>
                          <p:cTn id="67" fill="hold">
                            <p:stCondLst>
                              <p:cond delay="6000"/>
                            </p:stCondLst>
                            <p:childTnLst>
                              <p:par>
                                <p:cTn id="68" presetID="1" presetClass="entr" presetSubtype="0" fill="hold" grpId="0" nodeType="afterEffect">
                                  <p:stCondLst>
                                    <p:cond delay="500"/>
                                  </p:stCondLst>
                                  <p:childTnLst>
                                    <p:set>
                                      <p:cBhvr>
                                        <p:cTn id="69" dur="1" fill="hold">
                                          <p:stCondLst>
                                            <p:cond delay="0"/>
                                          </p:stCondLst>
                                        </p:cTn>
                                        <p:tgtEl>
                                          <p:spTgt spid="174"/>
                                        </p:tgtEl>
                                        <p:attrNameLst>
                                          <p:attrName>style.visibility</p:attrName>
                                        </p:attrNameLst>
                                      </p:cBhvr>
                                      <p:to>
                                        <p:strVal val="visible"/>
                                      </p:to>
                                    </p:set>
                                  </p:childTnLst>
                                </p:cTn>
                              </p:par>
                            </p:childTnLst>
                          </p:cTn>
                        </p:par>
                        <p:par>
                          <p:cTn id="70" fill="hold">
                            <p:stCondLst>
                              <p:cond delay="6500"/>
                            </p:stCondLst>
                            <p:childTnLst>
                              <p:par>
                                <p:cTn id="71" presetID="1" presetClass="entr" presetSubtype="0" fill="hold" grpId="0" nodeType="afterEffect">
                                  <p:stCondLst>
                                    <p:cond delay="500"/>
                                  </p:stCondLst>
                                  <p:childTnLst>
                                    <p:set>
                                      <p:cBhvr>
                                        <p:cTn id="72" dur="1" fill="hold">
                                          <p:stCondLst>
                                            <p:cond delay="0"/>
                                          </p:stCondLst>
                                        </p:cTn>
                                        <p:tgtEl>
                                          <p:spTgt spid="175"/>
                                        </p:tgtEl>
                                        <p:attrNameLst>
                                          <p:attrName>style.visibility</p:attrName>
                                        </p:attrNameLst>
                                      </p:cBhvr>
                                      <p:to>
                                        <p:strVal val="visible"/>
                                      </p:to>
                                    </p:set>
                                  </p:childTnLst>
                                </p:cTn>
                              </p:par>
                            </p:childTnLst>
                          </p:cTn>
                        </p:par>
                        <p:par>
                          <p:cTn id="73" fill="hold">
                            <p:stCondLst>
                              <p:cond delay="7000"/>
                            </p:stCondLst>
                            <p:childTnLst>
                              <p:par>
                                <p:cTn id="74" presetID="1" presetClass="entr" presetSubtype="0" fill="hold" grpId="0" nodeType="afterEffect">
                                  <p:stCondLst>
                                    <p:cond delay="500"/>
                                  </p:stCondLst>
                                  <p:childTnLst>
                                    <p:set>
                                      <p:cBhvr>
                                        <p:cTn id="75" dur="1" fill="hold">
                                          <p:stCondLst>
                                            <p:cond delay="0"/>
                                          </p:stCondLst>
                                        </p:cTn>
                                        <p:tgtEl>
                                          <p:spTgt spid="176"/>
                                        </p:tgtEl>
                                        <p:attrNameLst>
                                          <p:attrName>style.visibility</p:attrName>
                                        </p:attrNameLst>
                                      </p:cBhvr>
                                      <p:to>
                                        <p:strVal val="visible"/>
                                      </p:to>
                                    </p:set>
                                  </p:childTnLst>
                                </p:cTn>
                              </p:par>
                            </p:childTnLst>
                          </p:cTn>
                        </p:par>
                        <p:par>
                          <p:cTn id="76" fill="hold">
                            <p:stCondLst>
                              <p:cond delay="7500"/>
                            </p:stCondLst>
                            <p:childTnLst>
                              <p:par>
                                <p:cTn id="77" presetID="1" presetClass="entr" presetSubtype="0" fill="hold" grpId="0" nodeType="afterEffect">
                                  <p:stCondLst>
                                    <p:cond delay="500"/>
                                  </p:stCondLst>
                                  <p:childTnLst>
                                    <p:set>
                                      <p:cBhvr>
                                        <p:cTn id="78"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Por que não utilizar índice em tudo?</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524315"/>
          </a:xfrm>
          <a:prstGeom prst="rect">
            <a:avLst/>
          </a:prstGeom>
          <a:noFill/>
        </p:spPr>
        <p:txBody>
          <a:bodyPr wrap="square" rtlCol="0">
            <a:spAutoFit/>
          </a:bodyPr>
          <a:lstStyle/>
          <a:p>
            <a:r>
              <a:rPr lang="pt-BR" sz="2400" dirty="0" smtClean="0"/>
              <a:t>Embora os índices sejam um meio de organizar o acesso aos dados, existem algumas situações em que ele não é eficiente.</a:t>
            </a:r>
          </a:p>
          <a:p>
            <a:endParaRPr lang="pt-BR" sz="2400" dirty="0"/>
          </a:p>
          <a:p>
            <a:r>
              <a:rPr lang="pt-BR" sz="2400" dirty="0" smtClean="0"/>
              <a:t>Como vimos, o acesso ao dado através do índice implica ler alguns blocos do índice, para então chegar ao bloco de dados. Se utilizarmos este método para acessar todas as linhas da tabela, provavelmente acessaremos muito mais blocos do que se utilizássemos um FULL SCAN.</a:t>
            </a:r>
          </a:p>
          <a:p>
            <a:endParaRPr lang="pt-BR" sz="2400" dirty="0"/>
          </a:p>
          <a:p>
            <a:r>
              <a:rPr lang="pt-BR" sz="2400" dirty="0" smtClean="0"/>
              <a:t>De uma forma simplificada podemos dizer que, se vamos acessar menos de 10% das informações de uma tabela, um índice provavelmente ajudará. Acima deste volume, o uso do índice aumentará o número de blocos acessados, aumentando o esforço e tempo de resposta da query.</a:t>
            </a:r>
            <a:endParaRPr lang="pt-BR" sz="1600" dirty="0"/>
          </a:p>
        </p:txBody>
      </p:sp>
    </p:spTree>
    <p:extLst>
      <p:ext uri="{BB962C8B-B14F-4D97-AF65-F5344CB8AC3E}">
        <p14:creationId xmlns:p14="http://schemas.microsoft.com/office/powerpoint/2010/main" val="31360337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Por que não utilizar índice em tudo?</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3785652"/>
          </a:xfrm>
          <a:prstGeom prst="rect">
            <a:avLst/>
          </a:prstGeom>
          <a:noFill/>
        </p:spPr>
        <p:txBody>
          <a:bodyPr wrap="square" rtlCol="0">
            <a:spAutoFit/>
          </a:bodyPr>
          <a:lstStyle/>
          <a:p>
            <a:r>
              <a:rPr lang="pt-BR" sz="2400" dirty="0" smtClean="0"/>
              <a:t>Levando isto em consideração, será que valeria a pena utilizar um índice para acessar diretamente as pessoas do gênero masculino, ou feminino?</a:t>
            </a:r>
          </a:p>
          <a:p>
            <a:endParaRPr lang="pt-BR" sz="2400" dirty="0"/>
          </a:p>
          <a:p>
            <a:r>
              <a:rPr lang="pt-BR" sz="2400" dirty="0" smtClean="0"/>
              <a:t>Sabendo que a distribuição de cada um dos gêneros é parecida, deveríamos ter cerca de 50% de pessoas em cada grupo. Portanto, é muito provável que não valha a pena utilizar o índice, mesmo que ele exista.</a:t>
            </a:r>
          </a:p>
          <a:p>
            <a:endParaRPr lang="pt-BR" sz="2400" dirty="0"/>
          </a:p>
          <a:p>
            <a:r>
              <a:rPr lang="pt-BR" sz="2400" dirty="0" smtClean="0"/>
              <a:t>Por conta disso, os bancos de dados passaram a utilizar estatísticas que permitem decidir com maior assertividade se deve ou não incluir o uso do índice no plano de acesso.</a:t>
            </a:r>
            <a:endParaRPr lang="pt-BR" sz="1600" dirty="0"/>
          </a:p>
        </p:txBody>
      </p:sp>
    </p:spTree>
    <p:extLst>
      <p:ext uri="{BB962C8B-B14F-4D97-AF65-F5344CB8AC3E}">
        <p14:creationId xmlns:p14="http://schemas.microsoft.com/office/powerpoint/2010/main" val="8462779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Coleta de Estatísticas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3785652"/>
          </a:xfrm>
          <a:prstGeom prst="rect">
            <a:avLst/>
          </a:prstGeom>
          <a:noFill/>
        </p:spPr>
        <p:txBody>
          <a:bodyPr wrap="square" rtlCol="0">
            <a:spAutoFit/>
          </a:bodyPr>
          <a:lstStyle/>
          <a:p>
            <a:r>
              <a:rPr lang="pt-BR" sz="2400" dirty="0" smtClean="0"/>
              <a:t>A coleta de estatísticas é o mecanismo de aprendizado utilizado pelo Banco de Dados para conhecer a distribuição dos dados a serem acessados.</a:t>
            </a:r>
          </a:p>
          <a:p>
            <a:endParaRPr lang="pt-BR" sz="2400" dirty="0"/>
          </a:p>
          <a:p>
            <a:r>
              <a:rPr lang="pt-BR" sz="2400" dirty="0" smtClean="0"/>
              <a:t>O conjunto de estatísticas coletadas vem sendo melhorado a cada versão de banco e sofreu essa evolução porque novos problemas surgiram com a sua utilização.</a:t>
            </a:r>
          </a:p>
          <a:p>
            <a:endParaRPr lang="pt-BR" sz="2400" dirty="0"/>
          </a:p>
          <a:p>
            <a:r>
              <a:rPr lang="pt-BR" sz="2400" dirty="0" smtClean="0"/>
              <a:t>Em um primeiro momento, a estatística se preocupava em determinar quantos valores distintos haviam em uma determinada característica da tabela. Esta medida é chamada de GRANULARIDADE.</a:t>
            </a:r>
            <a:endParaRPr lang="pt-BR" sz="1600" dirty="0"/>
          </a:p>
        </p:txBody>
      </p:sp>
    </p:spTree>
    <p:extLst>
      <p:ext uri="{BB962C8B-B14F-4D97-AF65-F5344CB8AC3E}">
        <p14:creationId xmlns:p14="http://schemas.microsoft.com/office/powerpoint/2010/main" val="39637703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Granularidade</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154984"/>
          </a:xfrm>
          <a:prstGeom prst="rect">
            <a:avLst/>
          </a:prstGeom>
          <a:noFill/>
        </p:spPr>
        <p:txBody>
          <a:bodyPr wrap="square" rtlCol="0">
            <a:spAutoFit/>
          </a:bodyPr>
          <a:lstStyle/>
          <a:p>
            <a:r>
              <a:rPr lang="pt-BR" sz="2400" dirty="0" smtClean="0"/>
              <a:t>No exemplo do gênero masculino/feminino, a granularidade medida na coleta de estatísticas indica 2 valores distintos.</a:t>
            </a:r>
          </a:p>
          <a:p>
            <a:endParaRPr lang="pt-BR" sz="2400" dirty="0"/>
          </a:p>
          <a:p>
            <a:r>
              <a:rPr lang="pt-BR" sz="2400" dirty="0" smtClean="0"/>
              <a:t>Supondo que eles sejam bem distribuídos, teremos cerca de 50% de cada um dos valores, indicando que um índice não deveria ser utilizado.</a:t>
            </a:r>
          </a:p>
          <a:p>
            <a:endParaRPr lang="pt-BR" sz="2400" dirty="0"/>
          </a:p>
          <a:p>
            <a:r>
              <a:rPr lang="pt-BR" sz="2400" dirty="0" smtClean="0"/>
              <a:t>Porém, o que ocorre se estamos acessando pedidos cujo status pode ser “novo” ou “processado”? Com o passar do tempo, a maior parte dos pedidos já terão sido processados e apenas uma minoria seria encontrada com o status “novo”. Neste caso, precisamos de um índice para achar os novos pedidos e um FULL SCAN para os pedidos processados. Esta característica se chama BIAS.</a:t>
            </a:r>
            <a:endParaRPr lang="pt-BR" sz="1600" dirty="0"/>
          </a:p>
        </p:txBody>
      </p:sp>
    </p:spTree>
    <p:extLst>
      <p:ext uri="{BB962C8B-B14F-4D97-AF65-F5344CB8AC3E}">
        <p14:creationId xmlns:p14="http://schemas.microsoft.com/office/powerpoint/2010/main" val="14074754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Uso de Histogramas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524315"/>
          </a:xfrm>
          <a:prstGeom prst="rect">
            <a:avLst/>
          </a:prstGeom>
          <a:noFill/>
        </p:spPr>
        <p:txBody>
          <a:bodyPr wrap="square" rtlCol="0">
            <a:spAutoFit/>
          </a:bodyPr>
          <a:lstStyle/>
          <a:p>
            <a:r>
              <a:rPr lang="pt-BR" sz="2400" dirty="0" smtClean="0"/>
              <a:t>Quando a distribuição dos dados apresenta uma má distribuição (BIAS), a granularidade não é suficiente para decidir o uso, ou não, de um índice.</a:t>
            </a:r>
          </a:p>
          <a:p>
            <a:endParaRPr lang="pt-BR" sz="2400" dirty="0"/>
          </a:p>
          <a:p>
            <a:r>
              <a:rPr lang="pt-BR" sz="2400" dirty="0" smtClean="0"/>
              <a:t>Nestas situações, o banco de dados precisa coletar as informações de forma a criar um histograma. Através deste histograma, é possível saber quais valores necessitam um FULL SCAN por existirem em grandes quantidades e quais necessitam de um INDEX SCAN por serem em menor número.</a:t>
            </a:r>
          </a:p>
          <a:p>
            <a:endParaRPr lang="pt-BR" sz="2400" dirty="0"/>
          </a:p>
          <a:p>
            <a:r>
              <a:rPr lang="pt-BR" sz="2400" dirty="0" smtClean="0"/>
              <a:t>Então, basta criar histogramas para todas as colunas? A resposta é não!</a:t>
            </a:r>
          </a:p>
          <a:p>
            <a:endParaRPr lang="pt-BR" sz="2400" dirty="0"/>
          </a:p>
          <a:p>
            <a:r>
              <a:rPr lang="pt-BR" sz="2400" dirty="0" smtClean="0"/>
              <a:t>Histogramas consomem espaço, consomem mais recurso para serem mantidos e não resolvem todos os problemas.</a:t>
            </a:r>
          </a:p>
        </p:txBody>
      </p:sp>
    </p:spTree>
    <p:extLst>
      <p:ext uri="{BB962C8B-B14F-4D97-AF65-F5344CB8AC3E}">
        <p14:creationId xmlns:p14="http://schemas.microsoft.com/office/powerpoint/2010/main" val="36528364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err="1" smtClean="0">
                <a:solidFill>
                  <a:schemeClr val="tx1">
                    <a:lumMod val="65000"/>
                    <a:lumOff val="35000"/>
                  </a:schemeClr>
                </a:solidFill>
                <a:latin typeface="+mn-lt"/>
              </a:rPr>
              <a:t>Clustering</a:t>
            </a:r>
            <a:r>
              <a:rPr lang="pt-BR" sz="5300" b="1" dirty="0" smtClean="0">
                <a:solidFill>
                  <a:schemeClr val="tx1">
                    <a:lumMod val="65000"/>
                    <a:lumOff val="35000"/>
                  </a:schemeClr>
                </a:solidFill>
                <a:latin typeface="+mn-lt"/>
              </a:rPr>
              <a:t> </a:t>
            </a:r>
            <a:r>
              <a:rPr lang="pt-BR" sz="5300" b="1" dirty="0" err="1" smtClean="0">
                <a:solidFill>
                  <a:schemeClr val="tx1">
                    <a:lumMod val="65000"/>
                    <a:lumOff val="35000"/>
                  </a:schemeClr>
                </a:solidFill>
                <a:latin typeface="+mn-lt"/>
              </a:rPr>
              <a:t>Factor</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3785652"/>
          </a:xfrm>
          <a:prstGeom prst="rect">
            <a:avLst/>
          </a:prstGeom>
          <a:noFill/>
        </p:spPr>
        <p:txBody>
          <a:bodyPr wrap="square" rtlCol="0">
            <a:spAutoFit/>
          </a:bodyPr>
          <a:lstStyle/>
          <a:p>
            <a:r>
              <a:rPr lang="pt-BR" sz="2400" dirty="0" smtClean="0"/>
              <a:t>O </a:t>
            </a:r>
            <a:r>
              <a:rPr lang="pt-BR" sz="2400" dirty="0" err="1" smtClean="0"/>
              <a:t>clustering</a:t>
            </a:r>
            <a:r>
              <a:rPr lang="pt-BR" sz="2400" dirty="0" smtClean="0"/>
              <a:t> </a:t>
            </a:r>
            <a:r>
              <a:rPr lang="pt-BR" sz="2400" dirty="0" err="1" smtClean="0"/>
              <a:t>factor</a:t>
            </a:r>
            <a:r>
              <a:rPr lang="pt-BR" sz="2400" dirty="0" smtClean="0"/>
              <a:t> é uma medida que indica o quão ordenados são os dados.</a:t>
            </a:r>
          </a:p>
          <a:p>
            <a:endParaRPr lang="pt-BR" sz="2400" dirty="0"/>
          </a:p>
          <a:p>
            <a:r>
              <a:rPr lang="pt-BR" sz="2400" dirty="0" smtClean="0"/>
              <a:t>Se imaginarmos uma tabela onde cada registro inserido é numerado sequencialmente, um índice por este numerador terá a mesma ordem que os dados armazenados na tabela.</a:t>
            </a:r>
          </a:p>
          <a:p>
            <a:endParaRPr lang="pt-BR" sz="2400" dirty="0"/>
          </a:p>
          <a:p>
            <a:r>
              <a:rPr lang="pt-BR" sz="2400" dirty="0" smtClean="0"/>
              <a:t>Um </a:t>
            </a:r>
            <a:r>
              <a:rPr lang="pt-BR" sz="2400" dirty="0" err="1" smtClean="0"/>
              <a:t>full</a:t>
            </a:r>
            <a:r>
              <a:rPr lang="pt-BR" sz="2400" dirty="0" smtClean="0"/>
              <a:t> </a:t>
            </a:r>
            <a:r>
              <a:rPr lang="pt-BR" sz="2400" dirty="0" err="1" smtClean="0"/>
              <a:t>scan</a:t>
            </a:r>
            <a:r>
              <a:rPr lang="pt-BR" sz="2400" dirty="0" smtClean="0"/>
              <a:t> neste índice acessará os blocos de dados da tabela sequencialmente, mudando de bloco da tabela apenas quando todos os registros deste bloco já foram lidos. Então, dizemos que o </a:t>
            </a:r>
            <a:r>
              <a:rPr lang="pt-BR" sz="2400" dirty="0" err="1" smtClean="0"/>
              <a:t>Clustering</a:t>
            </a:r>
            <a:r>
              <a:rPr lang="pt-BR" sz="2400" dirty="0" smtClean="0"/>
              <a:t> </a:t>
            </a:r>
            <a:r>
              <a:rPr lang="pt-BR" sz="2400" dirty="0" err="1" smtClean="0"/>
              <a:t>Factor</a:t>
            </a:r>
            <a:r>
              <a:rPr lang="pt-BR" sz="2400" dirty="0" smtClean="0"/>
              <a:t> desta tabela é igual ao número de blocos da tabela.</a:t>
            </a:r>
          </a:p>
        </p:txBody>
      </p:sp>
    </p:spTree>
    <p:extLst>
      <p:ext uri="{BB962C8B-B14F-4D97-AF65-F5344CB8AC3E}">
        <p14:creationId xmlns:p14="http://schemas.microsoft.com/office/powerpoint/2010/main" val="27117722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err="1" smtClean="0">
                <a:solidFill>
                  <a:schemeClr val="tx1">
                    <a:lumMod val="65000"/>
                    <a:lumOff val="35000"/>
                  </a:schemeClr>
                </a:solidFill>
                <a:latin typeface="+mn-lt"/>
              </a:rPr>
              <a:t>Clustering</a:t>
            </a:r>
            <a:r>
              <a:rPr lang="pt-BR" sz="5300" b="1" dirty="0" smtClean="0">
                <a:solidFill>
                  <a:schemeClr val="tx1">
                    <a:lumMod val="65000"/>
                    <a:lumOff val="35000"/>
                  </a:schemeClr>
                </a:solidFill>
                <a:latin typeface="+mn-lt"/>
              </a:rPr>
              <a:t> </a:t>
            </a:r>
            <a:r>
              <a:rPr lang="pt-BR" sz="5300" b="1" dirty="0" err="1" smtClean="0">
                <a:solidFill>
                  <a:schemeClr val="tx1">
                    <a:lumMod val="65000"/>
                    <a:lumOff val="35000"/>
                  </a:schemeClr>
                </a:solidFill>
                <a:latin typeface="+mn-lt"/>
              </a:rPr>
              <a:t>Factor</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3785652"/>
          </a:xfrm>
          <a:prstGeom prst="rect">
            <a:avLst/>
          </a:prstGeom>
          <a:noFill/>
        </p:spPr>
        <p:txBody>
          <a:bodyPr wrap="square" rtlCol="0">
            <a:spAutoFit/>
          </a:bodyPr>
          <a:lstStyle/>
          <a:p>
            <a:r>
              <a:rPr lang="pt-BR" sz="2400" dirty="0" smtClean="0"/>
              <a:t>Agora</a:t>
            </a:r>
            <a:r>
              <a:rPr lang="pt-BR" sz="2400" smtClean="0"/>
              <a:t>, </a:t>
            </a:r>
            <a:r>
              <a:rPr lang="pt-BR" sz="2400" smtClean="0"/>
              <a:t>imaginemos </a:t>
            </a:r>
            <a:r>
              <a:rPr lang="pt-BR" sz="2400" dirty="0" smtClean="0"/>
              <a:t>uma tabela onde cada registro inserido possui uma característica pessoal, como o CPF em uma lista de pessoas.</a:t>
            </a:r>
          </a:p>
          <a:p>
            <a:endParaRPr lang="pt-BR" sz="2400" dirty="0" smtClean="0"/>
          </a:p>
          <a:p>
            <a:r>
              <a:rPr lang="pt-BR" sz="2400" dirty="0" smtClean="0"/>
              <a:t>Uma vez que o CPF das pessoas inseridas é armazenado de forma aleatória, um </a:t>
            </a:r>
            <a:r>
              <a:rPr lang="pt-BR" sz="2400" dirty="0" err="1" smtClean="0"/>
              <a:t>full</a:t>
            </a:r>
            <a:r>
              <a:rPr lang="pt-BR" sz="2400" dirty="0" smtClean="0"/>
              <a:t> </a:t>
            </a:r>
            <a:r>
              <a:rPr lang="pt-BR" sz="2400" dirty="0" err="1" smtClean="0"/>
              <a:t>scan</a:t>
            </a:r>
            <a:r>
              <a:rPr lang="pt-BR" sz="2400" dirty="0" smtClean="0"/>
              <a:t> em um índice por CPF provavelmente acessará cada linha da tabela em um bloco diferente, podendo voltar ao mesmo bloco mais tarde, para acessar os outros registros.</a:t>
            </a:r>
          </a:p>
          <a:p>
            <a:endParaRPr lang="pt-BR" sz="2400" dirty="0"/>
          </a:p>
          <a:p>
            <a:r>
              <a:rPr lang="pt-BR" sz="2400" dirty="0" smtClean="0"/>
              <a:t>Como o bloco de dados muda a cada linha acessada, o </a:t>
            </a:r>
            <a:r>
              <a:rPr lang="pt-BR" sz="2400" dirty="0" err="1" smtClean="0"/>
              <a:t>Clustering</a:t>
            </a:r>
            <a:r>
              <a:rPr lang="pt-BR" sz="2400" dirty="0" smtClean="0"/>
              <a:t> </a:t>
            </a:r>
            <a:r>
              <a:rPr lang="pt-BR" sz="2400" dirty="0" err="1" smtClean="0"/>
              <a:t>Factor</a:t>
            </a:r>
            <a:r>
              <a:rPr lang="pt-BR" sz="2400" dirty="0" smtClean="0"/>
              <a:t> deste índice é igual ao número de linhas (mudanças de bloco durante o </a:t>
            </a:r>
            <a:r>
              <a:rPr lang="pt-BR" sz="2400" dirty="0" err="1" smtClean="0"/>
              <a:t>full</a:t>
            </a:r>
            <a:r>
              <a:rPr lang="pt-BR" sz="2400" dirty="0" smtClean="0"/>
              <a:t> </a:t>
            </a:r>
            <a:r>
              <a:rPr lang="pt-BR" sz="2400" dirty="0" err="1" smtClean="0"/>
              <a:t>scan</a:t>
            </a:r>
            <a:r>
              <a:rPr lang="pt-BR" sz="2400" dirty="0" smtClean="0"/>
              <a:t>).</a:t>
            </a:r>
          </a:p>
        </p:txBody>
      </p:sp>
    </p:spTree>
    <p:extLst>
      <p:ext uri="{BB962C8B-B14F-4D97-AF65-F5344CB8AC3E}">
        <p14:creationId xmlns:p14="http://schemas.microsoft.com/office/powerpoint/2010/main" val="4063153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err="1" smtClean="0">
                <a:solidFill>
                  <a:schemeClr val="tx1">
                    <a:lumMod val="65000"/>
                    <a:lumOff val="35000"/>
                  </a:schemeClr>
                </a:solidFill>
                <a:latin typeface="+mn-lt"/>
              </a:rPr>
              <a:t>Clustering</a:t>
            </a:r>
            <a:r>
              <a:rPr lang="pt-BR" sz="5300" b="1" dirty="0" smtClean="0">
                <a:solidFill>
                  <a:schemeClr val="tx1">
                    <a:lumMod val="65000"/>
                    <a:lumOff val="35000"/>
                  </a:schemeClr>
                </a:solidFill>
                <a:latin typeface="+mn-lt"/>
              </a:rPr>
              <a:t> </a:t>
            </a:r>
            <a:r>
              <a:rPr lang="pt-BR" sz="5300" b="1" dirty="0" err="1" smtClean="0">
                <a:solidFill>
                  <a:schemeClr val="tx1">
                    <a:lumMod val="65000"/>
                    <a:lumOff val="35000"/>
                  </a:schemeClr>
                </a:solidFill>
                <a:latin typeface="+mn-lt"/>
              </a:rPr>
              <a:t>Factor</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893647"/>
          </a:xfrm>
          <a:prstGeom prst="rect">
            <a:avLst/>
          </a:prstGeom>
          <a:noFill/>
        </p:spPr>
        <p:txBody>
          <a:bodyPr wrap="square" rtlCol="0">
            <a:spAutoFit/>
          </a:bodyPr>
          <a:lstStyle/>
          <a:p>
            <a:r>
              <a:rPr lang="pt-BR" sz="2400" dirty="0" smtClean="0"/>
              <a:t>Em que este </a:t>
            </a:r>
            <a:r>
              <a:rPr lang="pt-BR" sz="2400" dirty="0" err="1" smtClean="0"/>
              <a:t>Clustering</a:t>
            </a:r>
            <a:r>
              <a:rPr lang="pt-BR" sz="2400" dirty="0" smtClean="0"/>
              <a:t> </a:t>
            </a:r>
            <a:r>
              <a:rPr lang="pt-BR" sz="2400" dirty="0" err="1" smtClean="0"/>
              <a:t>Factor</a:t>
            </a:r>
            <a:r>
              <a:rPr lang="pt-BR" sz="2400" dirty="0" smtClean="0"/>
              <a:t> ajuda?</a:t>
            </a:r>
          </a:p>
          <a:p>
            <a:endParaRPr lang="pt-BR" sz="2400" dirty="0"/>
          </a:p>
          <a:p>
            <a:r>
              <a:rPr lang="pt-BR" sz="2400" dirty="0" smtClean="0"/>
              <a:t>Imagine uma loja com 20 vendedores onde há rodízio. A cada cliente um vendedor realiza a venda e a registra no sistema.</a:t>
            </a:r>
          </a:p>
          <a:p>
            <a:endParaRPr lang="pt-BR" sz="2400" dirty="0"/>
          </a:p>
          <a:p>
            <a:r>
              <a:rPr lang="pt-BR" sz="2400" dirty="0" smtClean="0"/>
              <a:t>Se em cada bloco da tabela cabem 100 vendas, podemos esperar que, em média, cada bloco terá cerca de 5 vendas de cada vendedor.</a:t>
            </a:r>
          </a:p>
          <a:p>
            <a:endParaRPr lang="pt-BR" sz="2400" dirty="0"/>
          </a:p>
          <a:p>
            <a:r>
              <a:rPr lang="pt-BR" sz="2400" dirty="0" smtClean="0"/>
              <a:t>A granularidade nos diz que temos 20 valores distintos para o vendedor, que equivaleria a 5% da tabela. O histograma confirmaria este resultado. Porém, o </a:t>
            </a:r>
            <a:r>
              <a:rPr lang="pt-BR" sz="2400" dirty="0" err="1" smtClean="0"/>
              <a:t>clustering</a:t>
            </a:r>
            <a:r>
              <a:rPr lang="pt-BR" sz="2400" dirty="0" smtClean="0"/>
              <a:t> fator seria alto. Como precisamos ler todos os blocos da tabela, o </a:t>
            </a:r>
            <a:r>
              <a:rPr lang="pt-BR" sz="2400" dirty="0" err="1" smtClean="0"/>
              <a:t>full</a:t>
            </a:r>
            <a:r>
              <a:rPr lang="pt-BR" sz="2400" dirty="0" smtClean="0"/>
              <a:t> </a:t>
            </a:r>
            <a:r>
              <a:rPr lang="pt-BR" sz="2400" dirty="0" err="1" smtClean="0"/>
              <a:t>scan</a:t>
            </a:r>
            <a:r>
              <a:rPr lang="pt-BR" sz="2400" dirty="0" smtClean="0"/>
              <a:t> é sempre a melhor solução, mesmo acessando apenas 5% dos dados, visto que o index </a:t>
            </a:r>
            <a:r>
              <a:rPr lang="pt-BR" sz="2400" dirty="0" err="1" smtClean="0"/>
              <a:t>scan</a:t>
            </a:r>
            <a:r>
              <a:rPr lang="pt-BR" sz="2400" dirty="0" smtClean="0"/>
              <a:t> completo acessaria 20 vezes cada bloco.</a:t>
            </a:r>
          </a:p>
        </p:txBody>
      </p:sp>
    </p:spTree>
    <p:extLst>
      <p:ext uri="{BB962C8B-B14F-4D97-AF65-F5344CB8AC3E}">
        <p14:creationId xmlns:p14="http://schemas.microsoft.com/office/powerpoint/2010/main" val="20039557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229403"/>
            <a:ext cx="9776178" cy="803591"/>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4800" b="1" dirty="0">
                <a:solidFill>
                  <a:schemeClr val="tx1">
                    <a:lumMod val="65000"/>
                    <a:lumOff val="35000"/>
                  </a:schemeClr>
                </a:solidFill>
                <a:latin typeface="+mn-lt"/>
              </a:rPr>
              <a:t>Filtros/Índices compostos</a:t>
            </a:r>
          </a:p>
        </p:txBody>
      </p:sp>
      <p:sp>
        <p:nvSpPr>
          <p:cNvPr id="15" name="TextBox 14"/>
          <p:cNvSpPr txBox="1"/>
          <p:nvPr/>
        </p:nvSpPr>
        <p:spPr>
          <a:xfrm>
            <a:off x="1555668" y="1223158"/>
            <a:ext cx="10022774" cy="2308324"/>
          </a:xfrm>
          <a:prstGeom prst="rect">
            <a:avLst/>
          </a:prstGeom>
          <a:noFill/>
        </p:spPr>
        <p:txBody>
          <a:bodyPr wrap="square" rtlCol="0">
            <a:spAutoFit/>
          </a:bodyPr>
          <a:lstStyle/>
          <a:p>
            <a:r>
              <a:rPr lang="pt-BR" sz="2400" dirty="0" smtClean="0"/>
              <a:t>Como se a decisão de utilizar ou não um índice já não fosse complexa o bastante, o que dizer de um filtro composto?</a:t>
            </a:r>
          </a:p>
          <a:p>
            <a:endParaRPr lang="pt-BR" sz="2400" dirty="0"/>
          </a:p>
          <a:p>
            <a:r>
              <a:rPr lang="pt-BR" sz="2400" dirty="0" smtClean="0"/>
              <a:t>Imagine que queremos todas as vendas de um vendedor, na última semana.</a:t>
            </a:r>
          </a:p>
          <a:p>
            <a:endParaRPr lang="pt-BR" sz="2400" dirty="0"/>
          </a:p>
          <a:p>
            <a:r>
              <a:rPr lang="pt-BR" sz="2400" dirty="0" smtClean="0"/>
              <a:t>Vamos acessar os dados pelo índice do vendedor ou pelo índice da data?</a:t>
            </a:r>
          </a:p>
        </p:txBody>
      </p:sp>
    </p:spTree>
    <p:extLst>
      <p:ext uri="{BB962C8B-B14F-4D97-AF65-F5344CB8AC3E}">
        <p14:creationId xmlns:p14="http://schemas.microsoft.com/office/powerpoint/2010/main" val="26002772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Filtros/Índices compostos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524315"/>
          </a:xfrm>
          <a:prstGeom prst="rect">
            <a:avLst/>
          </a:prstGeom>
          <a:noFill/>
        </p:spPr>
        <p:txBody>
          <a:bodyPr wrap="square" rtlCol="0">
            <a:spAutoFit/>
          </a:bodyPr>
          <a:lstStyle/>
          <a:p>
            <a:r>
              <a:rPr lang="pt-BR" sz="2400" dirty="0" smtClean="0"/>
              <a:t>Se utilizarmos o índice do vendedor, acessaremos todas as vendas deste vendedor, desde que ele foi contratado e teremos que descartar as vendas fora do período.</a:t>
            </a:r>
          </a:p>
          <a:p>
            <a:endParaRPr lang="pt-BR" sz="2400" dirty="0"/>
          </a:p>
          <a:p>
            <a:r>
              <a:rPr lang="pt-BR" sz="2400" dirty="0" smtClean="0"/>
              <a:t>Se utilizarmos o índice da data, acessaremos todas as vendas da semana, de todos os vendedores, e teremos que descartar as vendas de outros vendedores.</a:t>
            </a:r>
          </a:p>
          <a:p>
            <a:endParaRPr lang="pt-BR" sz="2400" dirty="0"/>
          </a:p>
          <a:p>
            <a:r>
              <a:rPr lang="pt-BR" sz="2400" dirty="0" smtClean="0"/>
              <a:t>É para isto que existem índices compostos.</a:t>
            </a:r>
          </a:p>
          <a:p>
            <a:endParaRPr lang="pt-BR" sz="2400" dirty="0"/>
          </a:p>
          <a:p>
            <a:r>
              <a:rPr lang="pt-BR" sz="2400" dirty="0" smtClean="0"/>
              <a:t>Nosso índice pode ser composto pelo (vendedor, data), acessando diretamente os dados desejados.</a:t>
            </a:r>
          </a:p>
        </p:txBody>
      </p:sp>
    </p:spTree>
    <p:extLst>
      <p:ext uri="{BB962C8B-B14F-4D97-AF65-F5344CB8AC3E}">
        <p14:creationId xmlns:p14="http://schemas.microsoft.com/office/powerpoint/2010/main" val="20306249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Filtros/Índices compostos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893647"/>
          </a:xfrm>
          <a:prstGeom prst="rect">
            <a:avLst/>
          </a:prstGeom>
          <a:noFill/>
        </p:spPr>
        <p:txBody>
          <a:bodyPr wrap="square" rtlCol="0">
            <a:spAutoFit/>
          </a:bodyPr>
          <a:lstStyle/>
          <a:p>
            <a:r>
              <a:rPr lang="pt-BR" sz="2400" dirty="0" smtClean="0"/>
              <a:t>Todo índice permite fazer uma varredura entre dois valores distintos (ou não), acessando múltiplos registros. A esse procedimento chamamos de RANGE SCAN.</a:t>
            </a:r>
          </a:p>
          <a:p>
            <a:endParaRPr lang="pt-BR" sz="2400" dirty="0"/>
          </a:p>
          <a:p>
            <a:r>
              <a:rPr lang="pt-BR" sz="2400" dirty="0" smtClean="0"/>
              <a:t>O RANGE SCAN só pode ocorrer em uma coluna do índice. Se ele for composto, colunas posteriores ao RANGE SCAN não são acessadas de forma eficiente.</a:t>
            </a:r>
          </a:p>
          <a:p>
            <a:endParaRPr lang="pt-BR" sz="2400" dirty="0"/>
          </a:p>
          <a:p>
            <a:r>
              <a:rPr lang="pt-BR" sz="2400" dirty="0" smtClean="0"/>
              <a:t>Um índice por (vendedor, data) permite acessar as vendas de um vendedor (único) em um período (range).</a:t>
            </a:r>
          </a:p>
          <a:p>
            <a:endParaRPr lang="pt-BR" sz="2400" dirty="0"/>
          </a:p>
          <a:p>
            <a:r>
              <a:rPr lang="pt-BR" sz="2400" dirty="0" smtClean="0"/>
              <a:t>Um índice por (data, vendedor) permite acessar as vendas de um dia (único) para um conjunto de vendedores. Porém, esta é uma forma não usual em regras de negócio.</a:t>
            </a:r>
          </a:p>
        </p:txBody>
      </p:sp>
    </p:spTree>
    <p:extLst>
      <p:ext uri="{BB962C8B-B14F-4D97-AF65-F5344CB8AC3E}">
        <p14:creationId xmlns:p14="http://schemas.microsoft.com/office/powerpoint/2010/main" val="23762437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Índices compostos </a:t>
            </a:r>
            <a:r>
              <a:rPr lang="pt-BR" sz="5300" b="1" dirty="0" err="1" smtClean="0">
                <a:solidFill>
                  <a:schemeClr val="tx1">
                    <a:lumMod val="65000"/>
                    <a:lumOff val="35000"/>
                  </a:schemeClr>
                </a:solidFill>
                <a:latin typeface="+mn-lt"/>
              </a:rPr>
              <a:t>vs</a:t>
            </a:r>
            <a:r>
              <a:rPr lang="pt-BR" sz="5300" b="1" dirty="0" smtClean="0">
                <a:solidFill>
                  <a:schemeClr val="tx1">
                    <a:lumMod val="65000"/>
                    <a:lumOff val="35000"/>
                  </a:schemeClr>
                </a:solidFill>
                <a:latin typeface="+mn-lt"/>
              </a:rPr>
              <a:t> Modelagem</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524315"/>
          </a:xfrm>
          <a:prstGeom prst="rect">
            <a:avLst/>
          </a:prstGeom>
          <a:noFill/>
        </p:spPr>
        <p:txBody>
          <a:bodyPr wrap="square" rtlCol="0">
            <a:spAutoFit/>
          </a:bodyPr>
          <a:lstStyle/>
          <a:p>
            <a:r>
              <a:rPr lang="pt-BR" sz="2400" dirty="0" smtClean="0"/>
              <a:t>Então podemos utilizar índices compostos para atender a maioria das queries com filtros compostos? Nem sempre!</a:t>
            </a:r>
          </a:p>
          <a:p>
            <a:endParaRPr lang="pt-BR" sz="2400" dirty="0"/>
          </a:p>
          <a:p>
            <a:r>
              <a:rPr lang="pt-BR" sz="2400" dirty="0" smtClean="0"/>
              <a:t>Imaginemos um conjunto de duas tabelas para armazenar dados de um pedido. Na primeira temos o cabeçalho do pedido com informações do cliente, data do pedido e local de entrega. Na outra, a relação de itens do pedido.</a:t>
            </a:r>
          </a:p>
          <a:p>
            <a:endParaRPr lang="pt-BR" sz="2400" dirty="0"/>
          </a:p>
          <a:p>
            <a:r>
              <a:rPr lang="pt-BR" sz="2400" dirty="0" smtClean="0"/>
              <a:t>Como pesquisar os pedidos do último mês que incluíram um determinado item?</a:t>
            </a:r>
          </a:p>
          <a:p>
            <a:endParaRPr lang="pt-BR" sz="2400" dirty="0"/>
          </a:p>
          <a:p>
            <a:r>
              <a:rPr lang="pt-BR" sz="2400" dirty="0" smtClean="0"/>
              <a:t>O filtro pelo item é na tabela de itens e o filtro pela data é na tabela do cabeçalho. Não é possível criar índices compostos de múltiplas tabelas.</a:t>
            </a:r>
          </a:p>
        </p:txBody>
      </p:sp>
    </p:spTree>
    <p:extLst>
      <p:ext uri="{BB962C8B-B14F-4D97-AF65-F5344CB8AC3E}">
        <p14:creationId xmlns:p14="http://schemas.microsoft.com/office/powerpoint/2010/main" val="17881539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Índices compostos </a:t>
            </a:r>
            <a:r>
              <a:rPr lang="pt-BR" sz="5300" b="1" dirty="0" err="1" smtClean="0">
                <a:solidFill>
                  <a:schemeClr val="tx1">
                    <a:lumMod val="65000"/>
                    <a:lumOff val="35000"/>
                  </a:schemeClr>
                </a:solidFill>
                <a:latin typeface="+mn-lt"/>
              </a:rPr>
              <a:t>vs</a:t>
            </a:r>
            <a:r>
              <a:rPr lang="pt-BR" sz="5300" b="1" dirty="0" smtClean="0">
                <a:solidFill>
                  <a:schemeClr val="tx1">
                    <a:lumMod val="65000"/>
                    <a:lumOff val="35000"/>
                  </a:schemeClr>
                </a:solidFill>
                <a:latin typeface="+mn-lt"/>
              </a:rPr>
              <a:t> Modelagem</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893647"/>
          </a:xfrm>
          <a:prstGeom prst="rect">
            <a:avLst/>
          </a:prstGeom>
          <a:noFill/>
        </p:spPr>
        <p:txBody>
          <a:bodyPr wrap="square" rtlCol="0">
            <a:spAutoFit/>
          </a:bodyPr>
          <a:lstStyle/>
          <a:p>
            <a:r>
              <a:rPr lang="pt-BR" sz="2400" dirty="0" smtClean="0"/>
              <a:t>Quando isto ocorre, a solução é “estragar” o modelo, criando colunas redundantes.</a:t>
            </a:r>
          </a:p>
          <a:p>
            <a:endParaRPr lang="pt-BR" sz="2400" dirty="0"/>
          </a:p>
          <a:p>
            <a:r>
              <a:rPr lang="pt-BR" sz="2400" dirty="0" smtClean="0"/>
              <a:t>Se a frequência em que consultas deste tipo ocorrem é grande, podemos armazenar algumas informações de forma redundante, nas tabelas.</a:t>
            </a:r>
          </a:p>
          <a:p>
            <a:endParaRPr lang="pt-BR" sz="2400" dirty="0"/>
          </a:p>
          <a:p>
            <a:r>
              <a:rPr lang="pt-BR" sz="2400" dirty="0" smtClean="0"/>
              <a:t>No exemplo, podemos ter a data do pedido armazenada tanto no cabeçalho, como nos itens, permitindo a criação de um índice por (item, data) para atender à consulta.</a:t>
            </a:r>
          </a:p>
          <a:p>
            <a:endParaRPr lang="pt-BR" sz="2400" dirty="0"/>
          </a:p>
          <a:p>
            <a:r>
              <a:rPr lang="pt-BR" sz="2400" dirty="0" smtClean="0"/>
              <a:t>Esta redundância permitiria uma inconsistência, caso a data do item não seja igual à data do cabeçalho, o que pode ser facilmente corrigido através de triggers que impeçam a inconsistência.</a:t>
            </a:r>
          </a:p>
        </p:txBody>
      </p:sp>
    </p:spTree>
    <p:extLst>
      <p:ext uri="{BB962C8B-B14F-4D97-AF65-F5344CB8AC3E}">
        <p14:creationId xmlns:p14="http://schemas.microsoft.com/office/powerpoint/2010/main" val="38244999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Filtros com funções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3785652"/>
          </a:xfrm>
          <a:prstGeom prst="rect">
            <a:avLst/>
          </a:prstGeom>
          <a:noFill/>
        </p:spPr>
        <p:txBody>
          <a:bodyPr wrap="square" rtlCol="0">
            <a:spAutoFit/>
          </a:bodyPr>
          <a:lstStyle/>
          <a:p>
            <a:r>
              <a:rPr lang="pt-BR" sz="2400" dirty="0" smtClean="0"/>
              <a:t>Um dos exemplos mais comuns de filtros com funções é o acesso a dados de uma determinada data.</a:t>
            </a:r>
          </a:p>
          <a:p>
            <a:endParaRPr lang="pt-BR" sz="2400" dirty="0"/>
          </a:p>
          <a:p>
            <a:r>
              <a:rPr lang="pt-BR" sz="2400" dirty="0" smtClean="0"/>
              <a:t>Em alguns bancos de dados, existem tipos de “data” que armazenam apenas o dia. Porém, em outros bancos como o Oracle, o tipo DATE armazena o dia e a hora, com granularidade de segundos.</a:t>
            </a:r>
          </a:p>
          <a:p>
            <a:endParaRPr lang="pt-BR" sz="2400" dirty="0"/>
          </a:p>
          <a:p>
            <a:r>
              <a:rPr lang="pt-BR" sz="2400" dirty="0" smtClean="0"/>
              <a:t>Se a aplicação insere dados com data e hora, ao filtrar dados de um dia todo precisará acessar inúmeros valores distintos de data/hora. Ou seja, um range </a:t>
            </a:r>
            <a:r>
              <a:rPr lang="pt-BR" sz="2400" dirty="0" err="1" smtClean="0"/>
              <a:t>scan</a:t>
            </a:r>
            <a:r>
              <a:rPr lang="pt-BR" sz="2400" dirty="0" smtClean="0"/>
              <a:t>.</a:t>
            </a:r>
          </a:p>
        </p:txBody>
      </p:sp>
    </p:spTree>
    <p:extLst>
      <p:ext uri="{BB962C8B-B14F-4D97-AF65-F5344CB8AC3E}">
        <p14:creationId xmlns:p14="http://schemas.microsoft.com/office/powerpoint/2010/main" val="11042317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Filtros com funções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893647"/>
          </a:xfrm>
          <a:prstGeom prst="rect">
            <a:avLst/>
          </a:prstGeom>
          <a:noFill/>
        </p:spPr>
        <p:txBody>
          <a:bodyPr wrap="square" rtlCol="0">
            <a:spAutoFit/>
          </a:bodyPr>
          <a:lstStyle/>
          <a:p>
            <a:r>
              <a:rPr lang="pt-BR" sz="2400" dirty="0" smtClean="0"/>
              <a:t>Por desconhecer o funcionamento do banco de dados, o desenvolvedor executa a query utilizando uma função na coluna indexada.</a:t>
            </a:r>
          </a:p>
          <a:p>
            <a:endParaRPr lang="pt-BR" sz="2400" dirty="0"/>
          </a:p>
          <a:p>
            <a:r>
              <a:rPr lang="pt-BR" sz="2400" dirty="0" smtClean="0"/>
              <a:t>Ex.:</a:t>
            </a:r>
          </a:p>
          <a:p>
            <a:endParaRPr lang="pt-BR" sz="2400" dirty="0"/>
          </a:p>
          <a:p>
            <a:r>
              <a:rPr lang="pt-BR" sz="2400" dirty="0" err="1" smtClean="0"/>
              <a:t>select</a:t>
            </a:r>
            <a:r>
              <a:rPr lang="pt-BR" sz="2400" dirty="0" smtClean="0"/>
              <a:t> </a:t>
            </a:r>
            <a:r>
              <a:rPr lang="pt-BR" sz="2400" dirty="0" err="1" smtClean="0"/>
              <a:t>pedido_id</a:t>
            </a:r>
            <a:r>
              <a:rPr lang="pt-BR" sz="2400" dirty="0" smtClean="0"/>
              <a:t>, data, cliente, valor</a:t>
            </a:r>
          </a:p>
          <a:p>
            <a:r>
              <a:rPr lang="pt-BR" sz="2400" dirty="0" err="1" smtClean="0"/>
              <a:t>from</a:t>
            </a:r>
            <a:r>
              <a:rPr lang="pt-BR" sz="2400" dirty="0" smtClean="0"/>
              <a:t> pedidos</a:t>
            </a:r>
          </a:p>
          <a:p>
            <a:r>
              <a:rPr lang="pt-BR" sz="2400" dirty="0" err="1" smtClean="0"/>
              <a:t>where</a:t>
            </a:r>
            <a:endParaRPr lang="pt-BR" sz="2400" dirty="0" smtClean="0"/>
          </a:p>
          <a:p>
            <a:r>
              <a:rPr lang="pt-BR" sz="2400" dirty="0" smtClean="0"/>
              <a:t>  </a:t>
            </a:r>
            <a:r>
              <a:rPr lang="pt-BR" sz="2400" dirty="0" err="1" smtClean="0"/>
              <a:t>trunc</a:t>
            </a:r>
            <a:r>
              <a:rPr lang="pt-BR" sz="2400" dirty="0" smtClean="0"/>
              <a:t>(data) = '20/12/2018';</a:t>
            </a:r>
          </a:p>
          <a:p>
            <a:endParaRPr lang="pt-BR" sz="2400" dirty="0"/>
          </a:p>
          <a:p>
            <a:r>
              <a:rPr lang="pt-BR" sz="2400" dirty="0" smtClean="0"/>
              <a:t>O </a:t>
            </a:r>
            <a:r>
              <a:rPr lang="pt-BR" sz="2400" dirty="0" err="1" smtClean="0"/>
              <a:t>trunc</a:t>
            </a:r>
            <a:r>
              <a:rPr lang="pt-BR" sz="2400" dirty="0" smtClean="0"/>
              <a:t>() aplicado à data remove o horário, tornando mais simples a escrita da query. Porém, o banco não pode utilizar o índice na coluna data, forçando o </a:t>
            </a:r>
            <a:r>
              <a:rPr lang="pt-BR" sz="2400" dirty="0" err="1" smtClean="0"/>
              <a:t>full</a:t>
            </a:r>
            <a:r>
              <a:rPr lang="pt-BR" sz="2400" dirty="0" smtClean="0"/>
              <a:t> </a:t>
            </a:r>
            <a:r>
              <a:rPr lang="pt-BR" sz="2400" dirty="0" err="1" smtClean="0"/>
              <a:t>scan</a:t>
            </a:r>
            <a:r>
              <a:rPr lang="pt-BR" sz="2400" dirty="0" smtClean="0"/>
              <a:t>.</a:t>
            </a:r>
          </a:p>
        </p:txBody>
      </p:sp>
    </p:spTree>
    <p:extLst>
      <p:ext uri="{BB962C8B-B14F-4D97-AF65-F5344CB8AC3E}">
        <p14:creationId xmlns:p14="http://schemas.microsoft.com/office/powerpoint/2010/main" val="13850575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Filtros com funções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524315"/>
          </a:xfrm>
          <a:prstGeom prst="rect">
            <a:avLst/>
          </a:prstGeom>
          <a:noFill/>
        </p:spPr>
        <p:txBody>
          <a:bodyPr wrap="square" rtlCol="0">
            <a:spAutoFit/>
          </a:bodyPr>
          <a:lstStyle/>
          <a:p>
            <a:r>
              <a:rPr lang="pt-BR" sz="2400" dirty="0" smtClean="0"/>
              <a:t>A economia de tempo do desenvolvedor, ao escrever a query,  causa um problema de desempenho que, geralmente, só aparece quando a base está grande, já que o </a:t>
            </a:r>
            <a:r>
              <a:rPr lang="pt-BR" sz="2400" dirty="0" err="1" smtClean="0"/>
              <a:t>full</a:t>
            </a:r>
            <a:r>
              <a:rPr lang="pt-BR" sz="2400" dirty="0" smtClean="0"/>
              <a:t> </a:t>
            </a:r>
            <a:r>
              <a:rPr lang="pt-BR" sz="2400" dirty="0" err="1" smtClean="0"/>
              <a:t>scan</a:t>
            </a:r>
            <a:r>
              <a:rPr lang="pt-BR" sz="2400" dirty="0" smtClean="0"/>
              <a:t> em uma tabela pequena é rápido.</a:t>
            </a:r>
          </a:p>
          <a:p>
            <a:endParaRPr lang="pt-BR" sz="2400" dirty="0"/>
          </a:p>
          <a:p>
            <a:r>
              <a:rPr lang="pt-BR" sz="2400" dirty="0" smtClean="0"/>
              <a:t>Para fazer uso do índice, precisamos escrever a query de forma a utilizar o range </a:t>
            </a:r>
            <a:r>
              <a:rPr lang="pt-BR" sz="2400" dirty="0" err="1" smtClean="0"/>
              <a:t>scan</a:t>
            </a:r>
            <a:r>
              <a:rPr lang="pt-BR" sz="2400" dirty="0"/>
              <a:t>:</a:t>
            </a:r>
            <a:endParaRPr lang="pt-BR" sz="2400" dirty="0" smtClean="0"/>
          </a:p>
          <a:p>
            <a:endParaRPr lang="pt-BR" sz="2400" dirty="0"/>
          </a:p>
          <a:p>
            <a:r>
              <a:rPr lang="pt-BR" sz="2400" dirty="0" err="1" smtClean="0"/>
              <a:t>select</a:t>
            </a:r>
            <a:r>
              <a:rPr lang="pt-BR" sz="2400" dirty="0" smtClean="0"/>
              <a:t> </a:t>
            </a:r>
            <a:r>
              <a:rPr lang="pt-BR" sz="2400" dirty="0" err="1" smtClean="0"/>
              <a:t>pedido_id</a:t>
            </a:r>
            <a:r>
              <a:rPr lang="pt-BR" sz="2400" dirty="0" smtClean="0"/>
              <a:t>, data, cliente, valor</a:t>
            </a:r>
          </a:p>
          <a:p>
            <a:r>
              <a:rPr lang="pt-BR" sz="2400" dirty="0" err="1" smtClean="0"/>
              <a:t>from</a:t>
            </a:r>
            <a:r>
              <a:rPr lang="pt-BR" sz="2400" dirty="0" smtClean="0"/>
              <a:t> pedidos</a:t>
            </a:r>
          </a:p>
          <a:p>
            <a:r>
              <a:rPr lang="pt-BR" sz="2400" dirty="0" err="1" smtClean="0"/>
              <a:t>where</a:t>
            </a:r>
            <a:endParaRPr lang="pt-BR" sz="2400" dirty="0" smtClean="0"/>
          </a:p>
          <a:p>
            <a:r>
              <a:rPr lang="pt-BR" sz="2400" dirty="0" smtClean="0"/>
              <a:t>  data </a:t>
            </a:r>
            <a:r>
              <a:rPr lang="pt-BR" sz="2400" dirty="0"/>
              <a:t>&gt;= </a:t>
            </a:r>
            <a:r>
              <a:rPr lang="pt-BR" sz="2400" dirty="0" smtClean="0"/>
              <a:t>'20/12/2018' </a:t>
            </a:r>
            <a:r>
              <a:rPr lang="pt-BR" sz="2400" dirty="0" err="1" smtClean="0"/>
              <a:t>and</a:t>
            </a:r>
            <a:endParaRPr lang="pt-BR" sz="2400" dirty="0"/>
          </a:p>
          <a:p>
            <a:r>
              <a:rPr lang="pt-BR" sz="2400" dirty="0" smtClean="0"/>
              <a:t>  data &lt; '21/12/2018';</a:t>
            </a:r>
            <a:endParaRPr lang="pt-BR" sz="2400" dirty="0"/>
          </a:p>
        </p:txBody>
      </p:sp>
    </p:spTree>
    <p:extLst>
      <p:ext uri="{BB962C8B-B14F-4D97-AF65-F5344CB8AC3E}">
        <p14:creationId xmlns:p14="http://schemas.microsoft.com/office/powerpoint/2010/main" val="24554214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Dados com vigência</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524315"/>
          </a:xfrm>
          <a:prstGeom prst="rect">
            <a:avLst/>
          </a:prstGeom>
          <a:noFill/>
        </p:spPr>
        <p:txBody>
          <a:bodyPr wrap="square" rtlCol="0">
            <a:spAutoFit/>
          </a:bodyPr>
          <a:lstStyle/>
          <a:p>
            <a:r>
              <a:rPr lang="pt-BR" sz="2400" dirty="0" smtClean="0"/>
              <a:t>Muitos sistemas trabalham com contratos que são renovados. A cada renovação, são utilizados períodos de vigência para indicar qual versão do contrato é válida em uma determinada data (</a:t>
            </a:r>
            <a:r>
              <a:rPr lang="pt-BR" sz="2400" dirty="0" err="1" smtClean="0"/>
              <a:t>dt_inicio</a:t>
            </a:r>
            <a:r>
              <a:rPr lang="pt-BR" sz="2400" dirty="0" smtClean="0"/>
              <a:t>, </a:t>
            </a:r>
            <a:r>
              <a:rPr lang="pt-BR" sz="2400" dirty="0" err="1" smtClean="0"/>
              <a:t>dt_fim</a:t>
            </a:r>
            <a:r>
              <a:rPr lang="pt-BR" sz="2400" dirty="0" smtClean="0"/>
              <a:t>).</a:t>
            </a:r>
          </a:p>
          <a:p>
            <a:endParaRPr lang="pt-BR" sz="2400" dirty="0"/>
          </a:p>
          <a:p>
            <a:r>
              <a:rPr lang="pt-BR" sz="2400" dirty="0" smtClean="0"/>
              <a:t>Porém, este tipo de abordagem acarreta problemas de performance difíceis de resolver.</a:t>
            </a:r>
          </a:p>
          <a:p>
            <a:endParaRPr lang="pt-BR" sz="2400" dirty="0"/>
          </a:p>
          <a:p>
            <a:r>
              <a:rPr lang="pt-BR" sz="2400" dirty="0" smtClean="0"/>
              <a:t>O filtro ficaria mais ou menos assim:</a:t>
            </a:r>
          </a:p>
          <a:p>
            <a:endParaRPr lang="pt-BR" sz="2400" dirty="0"/>
          </a:p>
          <a:p>
            <a:r>
              <a:rPr lang="pt-BR" sz="2400" dirty="0" err="1" smtClean="0"/>
              <a:t>where</a:t>
            </a:r>
            <a:endParaRPr lang="pt-BR" sz="2400" dirty="0" smtClean="0"/>
          </a:p>
          <a:p>
            <a:r>
              <a:rPr lang="pt-BR" sz="2400" dirty="0" smtClean="0"/>
              <a:t>  </a:t>
            </a:r>
            <a:r>
              <a:rPr lang="pt-BR" sz="2400" dirty="0" err="1" smtClean="0"/>
              <a:t>dt_inicio</a:t>
            </a:r>
            <a:r>
              <a:rPr lang="pt-BR" sz="2400" dirty="0" smtClean="0"/>
              <a:t> &lt;= </a:t>
            </a:r>
            <a:r>
              <a:rPr lang="pt-BR" sz="2400" dirty="0" err="1" smtClean="0"/>
              <a:t>sysdate</a:t>
            </a:r>
            <a:r>
              <a:rPr lang="pt-BR" sz="2400" dirty="0" smtClean="0"/>
              <a:t> </a:t>
            </a:r>
            <a:r>
              <a:rPr lang="pt-BR" sz="2400" dirty="0" err="1" smtClean="0"/>
              <a:t>and</a:t>
            </a:r>
            <a:endParaRPr lang="pt-BR" sz="2400" dirty="0" smtClean="0"/>
          </a:p>
          <a:p>
            <a:r>
              <a:rPr lang="pt-BR" sz="2400" dirty="0"/>
              <a:t> </a:t>
            </a:r>
            <a:r>
              <a:rPr lang="pt-BR" sz="2400" dirty="0" smtClean="0"/>
              <a:t> </a:t>
            </a:r>
            <a:r>
              <a:rPr lang="pt-BR" sz="2400" dirty="0" err="1" smtClean="0"/>
              <a:t>dt_fim</a:t>
            </a:r>
            <a:r>
              <a:rPr lang="pt-BR" sz="2400" dirty="0" smtClean="0"/>
              <a:t> &gt;= </a:t>
            </a:r>
            <a:r>
              <a:rPr lang="pt-BR" sz="2400" dirty="0" err="1" smtClean="0"/>
              <a:t>sysdate</a:t>
            </a:r>
            <a:endParaRPr lang="pt-BR" sz="2400" dirty="0"/>
          </a:p>
        </p:txBody>
      </p:sp>
    </p:spTree>
    <p:extLst>
      <p:ext uri="{BB962C8B-B14F-4D97-AF65-F5344CB8AC3E}">
        <p14:creationId xmlns:p14="http://schemas.microsoft.com/office/powerpoint/2010/main" val="3433167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Dados com vigência</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893647"/>
          </a:xfrm>
          <a:prstGeom prst="rect">
            <a:avLst/>
          </a:prstGeom>
          <a:noFill/>
        </p:spPr>
        <p:txBody>
          <a:bodyPr wrap="square" rtlCol="0">
            <a:spAutoFit/>
          </a:bodyPr>
          <a:lstStyle/>
          <a:p>
            <a:r>
              <a:rPr lang="pt-BR" sz="2400" dirty="0" smtClean="0"/>
              <a:t>Filtros como este:</a:t>
            </a:r>
          </a:p>
          <a:p>
            <a:endParaRPr lang="pt-BR" sz="2400" dirty="0"/>
          </a:p>
          <a:p>
            <a:r>
              <a:rPr lang="pt-BR" sz="2400" dirty="0" err="1" smtClean="0"/>
              <a:t>where</a:t>
            </a:r>
            <a:endParaRPr lang="pt-BR" sz="2400" dirty="0" smtClean="0"/>
          </a:p>
          <a:p>
            <a:r>
              <a:rPr lang="pt-BR" sz="2400" dirty="0" smtClean="0"/>
              <a:t>  </a:t>
            </a:r>
            <a:r>
              <a:rPr lang="pt-BR" sz="2400" dirty="0" err="1" smtClean="0"/>
              <a:t>dt_inicio</a:t>
            </a:r>
            <a:r>
              <a:rPr lang="pt-BR" sz="2400" dirty="0" smtClean="0"/>
              <a:t> &lt;= </a:t>
            </a:r>
            <a:r>
              <a:rPr lang="pt-BR" sz="2400" dirty="0" err="1" smtClean="0"/>
              <a:t>sysdate</a:t>
            </a:r>
            <a:r>
              <a:rPr lang="pt-BR" sz="2400" dirty="0" smtClean="0"/>
              <a:t> </a:t>
            </a:r>
            <a:r>
              <a:rPr lang="pt-BR" sz="2400" dirty="0" err="1" smtClean="0"/>
              <a:t>and</a:t>
            </a:r>
            <a:endParaRPr lang="pt-BR" sz="2400" dirty="0" smtClean="0"/>
          </a:p>
          <a:p>
            <a:r>
              <a:rPr lang="pt-BR" sz="2400" dirty="0"/>
              <a:t> </a:t>
            </a:r>
            <a:r>
              <a:rPr lang="pt-BR" sz="2400" dirty="0" smtClean="0"/>
              <a:t> </a:t>
            </a:r>
            <a:r>
              <a:rPr lang="pt-BR" sz="2400" dirty="0" err="1" smtClean="0"/>
              <a:t>dt_fim</a:t>
            </a:r>
            <a:r>
              <a:rPr lang="pt-BR" sz="2400" dirty="0" smtClean="0"/>
              <a:t> &gt;= </a:t>
            </a:r>
            <a:r>
              <a:rPr lang="pt-BR" sz="2400" dirty="0" err="1" smtClean="0"/>
              <a:t>sysdate</a:t>
            </a:r>
            <a:endParaRPr lang="pt-BR" sz="2400" dirty="0" smtClean="0"/>
          </a:p>
          <a:p>
            <a:endParaRPr lang="pt-BR" sz="2400" dirty="0"/>
          </a:p>
          <a:p>
            <a:r>
              <a:rPr lang="pt-BR" sz="2400" dirty="0" smtClean="0"/>
              <a:t>Causam problema de performance porque implicam range </a:t>
            </a:r>
            <a:r>
              <a:rPr lang="pt-BR" sz="2400" dirty="0" err="1" smtClean="0"/>
              <a:t>scan</a:t>
            </a:r>
            <a:r>
              <a:rPr lang="pt-BR" sz="2400" dirty="0" smtClean="0"/>
              <a:t> nas duas colunas e sabemos que um índice só pode executar 1 range </a:t>
            </a:r>
            <a:r>
              <a:rPr lang="pt-BR" sz="2400" dirty="0" err="1" smtClean="0"/>
              <a:t>scan</a:t>
            </a:r>
            <a:r>
              <a:rPr lang="pt-BR" sz="2400" dirty="0" smtClean="0"/>
              <a:t>, mesmo que o  índice seja composto.</a:t>
            </a:r>
          </a:p>
          <a:p>
            <a:endParaRPr lang="pt-BR" sz="2400" dirty="0" smtClean="0"/>
          </a:p>
          <a:p>
            <a:r>
              <a:rPr lang="pt-BR" sz="2400" dirty="0" smtClean="0"/>
              <a:t>Todos os contratos já iniciados possuem </a:t>
            </a:r>
            <a:r>
              <a:rPr lang="pt-BR" sz="2400" dirty="0" err="1"/>
              <a:t>dt_inicio</a:t>
            </a:r>
            <a:r>
              <a:rPr lang="pt-BR" sz="2400" dirty="0"/>
              <a:t> &lt;= </a:t>
            </a:r>
            <a:r>
              <a:rPr lang="pt-BR" sz="2400" dirty="0" err="1" smtClean="0"/>
              <a:t>sysdate</a:t>
            </a:r>
            <a:r>
              <a:rPr lang="pt-BR" sz="2400" dirty="0" smtClean="0"/>
              <a:t>, mesmo os encerrados. Da mesma forma, muitos possuirão </a:t>
            </a:r>
            <a:r>
              <a:rPr lang="pt-BR" sz="2400" dirty="0" err="1"/>
              <a:t>dt_fim</a:t>
            </a:r>
            <a:r>
              <a:rPr lang="pt-BR" sz="2400" dirty="0"/>
              <a:t> &gt;= </a:t>
            </a:r>
            <a:r>
              <a:rPr lang="pt-BR" sz="2400" dirty="0" err="1" smtClean="0"/>
              <a:t>sysdate</a:t>
            </a:r>
            <a:r>
              <a:rPr lang="pt-BR" sz="2400" dirty="0" smtClean="0"/>
              <a:t>, mesmo os a iniciar.</a:t>
            </a:r>
            <a:endParaRPr lang="pt-BR" sz="2400" dirty="0"/>
          </a:p>
        </p:txBody>
      </p:sp>
    </p:spTree>
    <p:extLst>
      <p:ext uri="{BB962C8B-B14F-4D97-AF65-F5344CB8AC3E}">
        <p14:creationId xmlns:p14="http://schemas.microsoft.com/office/powerpoint/2010/main" val="5116439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Dados com vigência</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3416320"/>
          </a:xfrm>
          <a:prstGeom prst="rect">
            <a:avLst/>
          </a:prstGeom>
          <a:noFill/>
        </p:spPr>
        <p:txBody>
          <a:bodyPr wrap="square" rtlCol="0">
            <a:spAutoFit/>
          </a:bodyPr>
          <a:lstStyle/>
          <a:p>
            <a:r>
              <a:rPr lang="pt-BR" sz="2400" dirty="0" smtClean="0"/>
              <a:t>Para resolver este problema, talvez seja necessário modificar o modelo, utilizando duas tabelas. Uma para contratos vigentes e outra para contratos encerrados.</a:t>
            </a:r>
          </a:p>
          <a:p>
            <a:endParaRPr lang="pt-BR" sz="2400" dirty="0"/>
          </a:p>
          <a:p>
            <a:r>
              <a:rPr lang="pt-BR" sz="2400" dirty="0" smtClean="0"/>
              <a:t>Como a maioria das queries é relacionada aos contratos vigentes, bastaria acessar a tabela com os contratos vigentes, sem problemas de performance.</a:t>
            </a:r>
          </a:p>
          <a:p>
            <a:endParaRPr lang="pt-BR" sz="2400" dirty="0"/>
          </a:p>
          <a:p>
            <a:r>
              <a:rPr lang="pt-BR" sz="2400" dirty="0" smtClean="0"/>
              <a:t>As poucas queries acessando dados históricos acessariam a outra tabela, com filtros menos eficientes.</a:t>
            </a:r>
            <a:endParaRPr lang="pt-BR" sz="2400" dirty="0"/>
          </a:p>
        </p:txBody>
      </p:sp>
    </p:spTree>
    <p:extLst>
      <p:ext uri="{BB962C8B-B14F-4D97-AF65-F5344CB8AC3E}">
        <p14:creationId xmlns:p14="http://schemas.microsoft.com/office/powerpoint/2010/main" val="39297437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Modelos complexos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5262979"/>
          </a:xfrm>
          <a:prstGeom prst="rect">
            <a:avLst/>
          </a:prstGeom>
          <a:noFill/>
        </p:spPr>
        <p:txBody>
          <a:bodyPr wrap="square" rtlCol="0">
            <a:spAutoFit/>
          </a:bodyPr>
          <a:lstStyle/>
          <a:p>
            <a:r>
              <a:rPr lang="pt-BR" sz="2400" dirty="0" smtClean="0"/>
              <a:t>Em modelos muito complexos, com queries acessando múltiplas tabelas, o banco de dados pode ter dificuldade para achar o melhor plano.</a:t>
            </a:r>
          </a:p>
          <a:p>
            <a:endParaRPr lang="pt-BR" sz="2400" dirty="0"/>
          </a:p>
          <a:p>
            <a:r>
              <a:rPr lang="pt-BR" sz="2400" dirty="0" smtClean="0"/>
              <a:t>Para citar um exemplo, vamos supor uma query com 3 tabelas. Em que ordem o plano de acessos deveria acessar as tabelas?</a:t>
            </a:r>
          </a:p>
          <a:p>
            <a:endParaRPr lang="pt-BR" sz="2400" dirty="0"/>
          </a:p>
          <a:p>
            <a:pPr marL="342900" indent="-342900">
              <a:buFont typeface="Arial" panose="020B0604020202020204" pitchFamily="34" charset="0"/>
              <a:buChar char="•"/>
            </a:pPr>
            <a:r>
              <a:rPr lang="pt-BR" sz="2400" dirty="0" smtClean="0"/>
              <a:t>A, B e C</a:t>
            </a:r>
          </a:p>
          <a:p>
            <a:pPr marL="342900" indent="-342900">
              <a:buFont typeface="Arial" panose="020B0604020202020204" pitchFamily="34" charset="0"/>
              <a:buChar char="•"/>
            </a:pPr>
            <a:r>
              <a:rPr lang="pt-BR" sz="2400" dirty="0" smtClean="0"/>
              <a:t>A, C e B</a:t>
            </a:r>
          </a:p>
          <a:p>
            <a:pPr marL="342900" indent="-342900">
              <a:buFont typeface="Arial" panose="020B0604020202020204" pitchFamily="34" charset="0"/>
              <a:buChar char="•"/>
            </a:pPr>
            <a:r>
              <a:rPr lang="pt-BR" sz="2400" dirty="0" smtClean="0"/>
              <a:t>B, A e C</a:t>
            </a:r>
          </a:p>
          <a:p>
            <a:pPr marL="342900" indent="-342900">
              <a:buFont typeface="Arial" panose="020B0604020202020204" pitchFamily="34" charset="0"/>
              <a:buChar char="•"/>
            </a:pPr>
            <a:r>
              <a:rPr lang="pt-BR" sz="2400" dirty="0" smtClean="0"/>
              <a:t>B, C e A</a:t>
            </a:r>
          </a:p>
          <a:p>
            <a:pPr marL="342900" indent="-342900">
              <a:buFont typeface="Arial" panose="020B0604020202020204" pitchFamily="34" charset="0"/>
              <a:buChar char="•"/>
            </a:pPr>
            <a:r>
              <a:rPr lang="pt-BR" sz="2400" dirty="0" smtClean="0"/>
              <a:t>C, A e B</a:t>
            </a:r>
          </a:p>
          <a:p>
            <a:pPr marL="342900" indent="-342900">
              <a:buFont typeface="Arial" panose="020B0604020202020204" pitchFamily="34" charset="0"/>
              <a:buChar char="•"/>
            </a:pPr>
            <a:r>
              <a:rPr lang="pt-BR" sz="2400" dirty="0" smtClean="0"/>
              <a:t>C, B e A</a:t>
            </a:r>
          </a:p>
          <a:p>
            <a:endParaRPr lang="pt-BR" sz="2400" dirty="0" smtClean="0"/>
          </a:p>
          <a:p>
            <a:r>
              <a:rPr lang="pt-BR" sz="2400" dirty="0" smtClean="0"/>
              <a:t>O número de possibilidades é N!</a:t>
            </a:r>
            <a:endParaRPr lang="pt-BR" sz="2400" dirty="0"/>
          </a:p>
        </p:txBody>
      </p:sp>
    </p:spTree>
    <p:extLst>
      <p:ext uri="{BB962C8B-B14F-4D97-AF65-F5344CB8AC3E}">
        <p14:creationId xmlns:p14="http://schemas.microsoft.com/office/powerpoint/2010/main" val="75548172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Modelos complexos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893647"/>
          </a:xfrm>
          <a:prstGeom prst="rect">
            <a:avLst/>
          </a:prstGeom>
          <a:noFill/>
        </p:spPr>
        <p:txBody>
          <a:bodyPr wrap="square" rtlCol="0">
            <a:spAutoFit/>
          </a:bodyPr>
          <a:lstStyle/>
          <a:p>
            <a:r>
              <a:rPr lang="pt-BR" sz="2400" dirty="0" smtClean="0"/>
              <a:t>O </a:t>
            </a:r>
            <a:r>
              <a:rPr lang="pt-BR" sz="2400" dirty="0" err="1" smtClean="0"/>
              <a:t>otimizador</a:t>
            </a:r>
            <a:r>
              <a:rPr lang="pt-BR" sz="2400" dirty="0" smtClean="0"/>
              <a:t> precisa avaliar todas as permutações entre as tabelas, decidindo a cada caso o tipo de </a:t>
            </a:r>
            <a:r>
              <a:rPr lang="pt-BR" sz="2400" dirty="0" err="1" smtClean="0"/>
              <a:t>join</a:t>
            </a:r>
            <a:r>
              <a:rPr lang="pt-BR" sz="2400" dirty="0" smtClean="0"/>
              <a:t>, o uso do índice ou não e escolher a melhor combinação.</a:t>
            </a:r>
          </a:p>
          <a:p>
            <a:endParaRPr lang="pt-BR" sz="2400" dirty="0"/>
          </a:p>
          <a:p>
            <a:r>
              <a:rPr lang="pt-BR" sz="2400" dirty="0" smtClean="0"/>
              <a:t>Em uma query com 10 tabelas, o número de combinações só para a ordem de acesso </a:t>
            </a:r>
            <a:r>
              <a:rPr lang="pt-BR" sz="2400" dirty="0"/>
              <a:t>das tabelas é de </a:t>
            </a:r>
            <a:r>
              <a:rPr lang="pt-BR" sz="2400" dirty="0" smtClean="0"/>
              <a:t>3628800.</a:t>
            </a:r>
          </a:p>
          <a:p>
            <a:endParaRPr lang="pt-BR" sz="2400" dirty="0"/>
          </a:p>
          <a:p>
            <a:r>
              <a:rPr lang="pt-BR" sz="2400" dirty="0" smtClean="0"/>
              <a:t>Se o banco conseguir analisar cada uma das permutações em 1 microssegundo, a query demoraria 3,6s só para escolher o plano.</a:t>
            </a:r>
          </a:p>
          <a:p>
            <a:endParaRPr lang="pt-BR" sz="2400" dirty="0"/>
          </a:p>
          <a:p>
            <a:r>
              <a:rPr lang="pt-BR" sz="2400" dirty="0" smtClean="0"/>
              <a:t>Para resolver este problema, o banco só pode analisar um número limitado de planos e, muitas vezes, o melhor dos planos analisados não é o melhor plano, podendo inclusive ser muito ruim.</a:t>
            </a:r>
            <a:endParaRPr lang="pt-BR" sz="2400" dirty="0"/>
          </a:p>
        </p:txBody>
      </p:sp>
    </p:spTree>
    <p:extLst>
      <p:ext uri="{BB962C8B-B14F-4D97-AF65-F5344CB8AC3E}">
        <p14:creationId xmlns:p14="http://schemas.microsoft.com/office/powerpoint/2010/main" val="1108561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Modelos complexos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3785652"/>
          </a:xfrm>
          <a:prstGeom prst="rect">
            <a:avLst/>
          </a:prstGeom>
          <a:noFill/>
        </p:spPr>
        <p:txBody>
          <a:bodyPr wrap="square" rtlCol="0">
            <a:spAutoFit/>
          </a:bodyPr>
          <a:lstStyle/>
          <a:p>
            <a:r>
              <a:rPr lang="pt-BR" sz="2400" dirty="0" smtClean="0"/>
              <a:t>O ideal é que o modelo seja simples, as queries utilizem poucas tabelas e acessem o mínimo de dados possível.</a:t>
            </a:r>
          </a:p>
          <a:p>
            <a:endParaRPr lang="pt-BR" sz="2400" dirty="0"/>
          </a:p>
          <a:p>
            <a:r>
              <a:rPr lang="pt-BR" sz="2400" dirty="0" smtClean="0"/>
              <a:t>Sempre que uma aplicação depende de dados históricos para executar operações do dia a dia, está fadada a fracassar a longo prazo, quando os históricos crescem e tornam o tempo de resposta inadequado.</a:t>
            </a:r>
          </a:p>
          <a:p>
            <a:endParaRPr lang="pt-BR" sz="2400" dirty="0"/>
          </a:p>
          <a:p>
            <a:r>
              <a:rPr lang="pt-BR" sz="2400" dirty="0" smtClean="0"/>
              <a:t>Então, se o histórico é necessário, os dados precisam ser mantidos </a:t>
            </a:r>
            <a:r>
              <a:rPr lang="pt-BR" sz="2400" dirty="0" err="1" smtClean="0"/>
              <a:t>pré</a:t>
            </a:r>
            <a:r>
              <a:rPr lang="pt-BR" sz="2400" dirty="0" smtClean="0"/>
              <a:t>-processados, garantindo que o resultado da análise esteja disponível para consulta, sem executar a análise múltiplas vezes.</a:t>
            </a:r>
            <a:endParaRPr lang="pt-BR" sz="2400" dirty="0"/>
          </a:p>
        </p:txBody>
      </p:sp>
    </p:spTree>
    <p:extLst>
      <p:ext uri="{BB962C8B-B14F-4D97-AF65-F5344CB8AC3E}">
        <p14:creationId xmlns:p14="http://schemas.microsoft.com/office/powerpoint/2010/main" val="37695671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Uso de HINTS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524315"/>
          </a:xfrm>
          <a:prstGeom prst="rect">
            <a:avLst/>
          </a:prstGeom>
          <a:noFill/>
        </p:spPr>
        <p:txBody>
          <a:bodyPr wrap="square" rtlCol="0">
            <a:spAutoFit/>
          </a:bodyPr>
          <a:lstStyle/>
          <a:p>
            <a:r>
              <a:rPr lang="pt-BR" sz="2400" dirty="0" smtClean="0"/>
              <a:t>Quando o modelo se torna complexo, as tabelas ficam grandes e as queries acessam muitas tabelas com filtros distintos, em diferentes tabelas, a chance de que um plano de acesso seja ruim aumenta drasticamente.</a:t>
            </a:r>
          </a:p>
          <a:p>
            <a:endParaRPr lang="pt-BR" sz="2400" dirty="0"/>
          </a:p>
          <a:p>
            <a:r>
              <a:rPr lang="pt-BR" sz="2400" dirty="0" smtClean="0"/>
              <a:t>Em bancos de dados mais sofisticados, é possível utilizar HINTS (sugestões) que indicam para o banco informações que ele não conseguiria obter a partir de uma coleta de estatísticas, ou pela limitação de tempo que tem para analisar um plano de acesso.</a:t>
            </a:r>
          </a:p>
          <a:p>
            <a:endParaRPr lang="pt-BR" sz="2400" dirty="0"/>
          </a:p>
          <a:p>
            <a:r>
              <a:rPr lang="pt-BR" sz="2400" dirty="0" smtClean="0"/>
              <a:t>Se queremos que uma query rode sempre com um determinado plano de acesso estável, podemos utilizar os HINTS para sugerir ao banco que utilize um determinado plano de acesso.</a:t>
            </a:r>
            <a:endParaRPr lang="pt-BR" sz="2400" dirty="0"/>
          </a:p>
        </p:txBody>
      </p:sp>
    </p:spTree>
    <p:extLst>
      <p:ext uri="{BB962C8B-B14F-4D97-AF65-F5344CB8AC3E}">
        <p14:creationId xmlns:p14="http://schemas.microsoft.com/office/powerpoint/2010/main" val="23178530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Uso de HINTS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893647"/>
          </a:xfrm>
          <a:prstGeom prst="rect">
            <a:avLst/>
          </a:prstGeom>
          <a:noFill/>
        </p:spPr>
        <p:txBody>
          <a:bodyPr wrap="square" rtlCol="0">
            <a:spAutoFit/>
          </a:bodyPr>
          <a:lstStyle/>
          <a:p>
            <a:r>
              <a:rPr lang="pt-BR" sz="2400" dirty="0" smtClean="0"/>
              <a:t>Um exemplo disso poderia ser utilizado em uma query com múltiplas tabelas:</a:t>
            </a:r>
          </a:p>
          <a:p>
            <a:endParaRPr lang="pt-BR" sz="2400" dirty="0"/>
          </a:p>
          <a:p>
            <a:r>
              <a:rPr lang="pt-BR" sz="2400" dirty="0" err="1" smtClean="0"/>
              <a:t>select</a:t>
            </a:r>
            <a:r>
              <a:rPr lang="pt-BR" sz="2400" dirty="0" smtClean="0"/>
              <a:t> /*+ </a:t>
            </a:r>
            <a:r>
              <a:rPr lang="pt-BR" sz="2400" dirty="0" err="1" smtClean="0"/>
              <a:t>ordered</a:t>
            </a:r>
            <a:r>
              <a:rPr lang="pt-BR" sz="2400" dirty="0" smtClean="0"/>
              <a:t> */</a:t>
            </a:r>
          </a:p>
          <a:p>
            <a:r>
              <a:rPr lang="pt-BR" sz="2400" dirty="0"/>
              <a:t> </a:t>
            </a:r>
            <a:r>
              <a:rPr lang="pt-BR" sz="2400" dirty="0" smtClean="0"/>
              <a:t> *</a:t>
            </a:r>
            <a:br>
              <a:rPr lang="pt-BR" sz="2400" dirty="0" smtClean="0"/>
            </a:br>
            <a:r>
              <a:rPr lang="pt-BR" sz="2400" dirty="0" err="1" smtClean="0"/>
              <a:t>from</a:t>
            </a:r>
            <a:r>
              <a:rPr lang="pt-BR" sz="2400" dirty="0" smtClean="0"/>
              <a:t> A, B, C, D, E, F</a:t>
            </a:r>
          </a:p>
          <a:p>
            <a:r>
              <a:rPr lang="pt-BR" sz="2400" dirty="0" err="1" smtClean="0"/>
              <a:t>where</a:t>
            </a:r>
            <a:endParaRPr lang="pt-BR" sz="2400" dirty="0" smtClean="0"/>
          </a:p>
          <a:p>
            <a:r>
              <a:rPr lang="pt-BR" sz="2400" dirty="0" smtClean="0"/>
              <a:t>  </a:t>
            </a:r>
            <a:r>
              <a:rPr lang="pt-BR" sz="2400" dirty="0"/>
              <a:t>B.id = A.id </a:t>
            </a:r>
            <a:r>
              <a:rPr lang="pt-BR" sz="2400" dirty="0" err="1" smtClean="0"/>
              <a:t>and</a:t>
            </a:r>
            <a:endParaRPr lang="pt-BR" sz="2400" dirty="0" smtClean="0"/>
          </a:p>
          <a:p>
            <a:r>
              <a:rPr lang="pt-BR" sz="2400" dirty="0" smtClean="0"/>
              <a:t>  C.id </a:t>
            </a:r>
            <a:r>
              <a:rPr lang="pt-BR" sz="2400" dirty="0"/>
              <a:t>= </a:t>
            </a:r>
            <a:r>
              <a:rPr lang="pt-BR" sz="2400" dirty="0" smtClean="0"/>
              <a:t>B.id </a:t>
            </a:r>
            <a:r>
              <a:rPr lang="pt-BR" sz="2400" dirty="0" err="1" smtClean="0"/>
              <a:t>and</a:t>
            </a:r>
            <a:endParaRPr lang="pt-BR" sz="2400" dirty="0" smtClean="0"/>
          </a:p>
          <a:p>
            <a:r>
              <a:rPr lang="pt-BR" sz="2400" dirty="0" smtClean="0"/>
              <a:t>  (...)</a:t>
            </a:r>
          </a:p>
          <a:p>
            <a:endParaRPr lang="pt-BR" sz="2400" dirty="0" smtClean="0"/>
          </a:p>
          <a:p>
            <a:r>
              <a:rPr lang="pt-BR" sz="2400" dirty="0" smtClean="0"/>
              <a:t>O HINT “</a:t>
            </a:r>
            <a:r>
              <a:rPr lang="pt-BR" sz="2400" dirty="0" err="1" smtClean="0"/>
              <a:t>ordered</a:t>
            </a:r>
            <a:r>
              <a:rPr lang="pt-BR" sz="2400" dirty="0" smtClean="0"/>
              <a:t>” indica para o banco que as tabelas devem ser acessadas na ordem em que aparecem no FROM, eliminando a necessidade do banco testar cada permutação.</a:t>
            </a:r>
            <a:endParaRPr lang="pt-BR" sz="2400" dirty="0"/>
          </a:p>
        </p:txBody>
      </p:sp>
    </p:spTree>
    <p:extLst>
      <p:ext uri="{BB962C8B-B14F-4D97-AF65-F5344CB8AC3E}">
        <p14:creationId xmlns:p14="http://schemas.microsoft.com/office/powerpoint/2010/main" val="11484012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14"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Uso de HINTS</a:t>
            </a:r>
            <a:endParaRPr lang="pt-BR" sz="2700" dirty="0">
              <a:solidFill>
                <a:schemeClr val="tx1">
                  <a:lumMod val="65000"/>
                  <a:lumOff val="35000"/>
                </a:schemeClr>
              </a:solidFill>
              <a:latin typeface="+mn-lt"/>
            </a:endParaRPr>
          </a:p>
        </p:txBody>
      </p:sp>
      <p:sp>
        <p:nvSpPr>
          <p:cNvPr id="15" name="TextBox 14"/>
          <p:cNvSpPr txBox="1"/>
          <p:nvPr/>
        </p:nvSpPr>
        <p:spPr>
          <a:xfrm>
            <a:off x="1555668" y="1223158"/>
            <a:ext cx="10022774" cy="4893647"/>
          </a:xfrm>
          <a:prstGeom prst="rect">
            <a:avLst/>
          </a:prstGeom>
          <a:noFill/>
        </p:spPr>
        <p:txBody>
          <a:bodyPr wrap="square" rtlCol="0">
            <a:spAutoFit/>
          </a:bodyPr>
          <a:lstStyle/>
          <a:p>
            <a:r>
              <a:rPr lang="pt-BR" sz="2400" dirty="0" smtClean="0"/>
              <a:t>Cada banco de dados possui seu próprio conjunto de HINTS.</a:t>
            </a:r>
          </a:p>
          <a:p>
            <a:endParaRPr lang="pt-BR" sz="2400" dirty="0"/>
          </a:p>
          <a:p>
            <a:r>
              <a:rPr lang="pt-BR" sz="2400" dirty="0" smtClean="0"/>
              <a:t>Os tipos de HINT mais comuns são para:</a:t>
            </a:r>
          </a:p>
          <a:p>
            <a:endParaRPr lang="pt-BR" sz="2400" dirty="0"/>
          </a:p>
          <a:p>
            <a:pPr marL="342900" indent="-342900">
              <a:buFont typeface="Arial" panose="020B0604020202020204" pitchFamily="34" charset="0"/>
              <a:buChar char="•"/>
            </a:pPr>
            <a:r>
              <a:rPr lang="pt-BR" sz="2400" dirty="0" smtClean="0"/>
              <a:t>Forçar a ordem das tabelas</a:t>
            </a:r>
          </a:p>
          <a:p>
            <a:pPr marL="342900" indent="-342900">
              <a:buFont typeface="Arial" panose="020B0604020202020204" pitchFamily="34" charset="0"/>
              <a:buChar char="•"/>
            </a:pPr>
            <a:r>
              <a:rPr lang="pt-BR" sz="2400" dirty="0" smtClean="0"/>
              <a:t>Forçar o uso de um índice ou </a:t>
            </a:r>
            <a:r>
              <a:rPr lang="pt-BR" sz="2400" dirty="0" err="1" smtClean="0"/>
              <a:t>full</a:t>
            </a:r>
            <a:r>
              <a:rPr lang="pt-BR" sz="2400" dirty="0" smtClean="0"/>
              <a:t> </a:t>
            </a:r>
            <a:r>
              <a:rPr lang="pt-BR" sz="2400" dirty="0" err="1" smtClean="0"/>
              <a:t>scan</a:t>
            </a:r>
            <a:r>
              <a:rPr lang="pt-BR" sz="2400" dirty="0" smtClean="0"/>
              <a:t> em determinada tabela</a:t>
            </a:r>
          </a:p>
          <a:p>
            <a:pPr marL="342900" indent="-342900">
              <a:buFont typeface="Arial" panose="020B0604020202020204" pitchFamily="34" charset="0"/>
              <a:buChar char="•"/>
            </a:pPr>
            <a:r>
              <a:rPr lang="pt-BR" sz="2400" dirty="0" smtClean="0"/>
              <a:t>Escolher o tipo de </a:t>
            </a:r>
            <a:r>
              <a:rPr lang="pt-BR" sz="2400" dirty="0" err="1" smtClean="0"/>
              <a:t>join</a:t>
            </a:r>
            <a:r>
              <a:rPr lang="pt-BR" sz="2400" dirty="0" smtClean="0"/>
              <a:t> (</a:t>
            </a:r>
            <a:r>
              <a:rPr lang="pt-BR" sz="2400" dirty="0" err="1" smtClean="0"/>
              <a:t>nested</a:t>
            </a:r>
            <a:r>
              <a:rPr lang="pt-BR" sz="2400" dirty="0" smtClean="0"/>
              <a:t> loop, merge </a:t>
            </a:r>
            <a:r>
              <a:rPr lang="pt-BR" sz="2400" dirty="0" err="1" smtClean="0"/>
              <a:t>sort</a:t>
            </a:r>
            <a:r>
              <a:rPr lang="pt-BR" sz="2400" dirty="0" smtClean="0"/>
              <a:t>, </a:t>
            </a:r>
            <a:r>
              <a:rPr lang="pt-BR" sz="2400" dirty="0" err="1" smtClean="0"/>
              <a:t>hash</a:t>
            </a:r>
            <a:r>
              <a:rPr lang="pt-BR" sz="2400" dirty="0" smtClean="0"/>
              <a:t> </a:t>
            </a:r>
            <a:r>
              <a:rPr lang="pt-BR" sz="2400" dirty="0" err="1" smtClean="0"/>
              <a:t>join</a:t>
            </a:r>
            <a:r>
              <a:rPr lang="pt-BR" sz="2400" dirty="0" smtClean="0"/>
              <a:t>, etc.)</a:t>
            </a:r>
          </a:p>
          <a:p>
            <a:pPr marL="342900" indent="-342900">
              <a:buFont typeface="Arial" panose="020B0604020202020204" pitchFamily="34" charset="0"/>
              <a:buChar char="•"/>
            </a:pPr>
            <a:r>
              <a:rPr lang="pt-BR" sz="2400" dirty="0" smtClean="0"/>
              <a:t>Desativar cache dos dados acessados</a:t>
            </a:r>
          </a:p>
          <a:p>
            <a:pPr marL="342900" indent="-342900">
              <a:buFont typeface="Arial" panose="020B0604020202020204" pitchFamily="34" charset="0"/>
              <a:buChar char="•"/>
            </a:pPr>
            <a:r>
              <a:rPr lang="pt-BR" sz="2400" dirty="0" smtClean="0"/>
              <a:t>Utilizar parâmetros ou estatísticas alternativas</a:t>
            </a:r>
          </a:p>
          <a:p>
            <a:endParaRPr lang="pt-BR" sz="2400" dirty="0" smtClean="0"/>
          </a:p>
          <a:p>
            <a:r>
              <a:rPr lang="pt-BR" sz="2400" dirty="0" smtClean="0"/>
              <a:t>Ao utilizar HINTS muitas vezes impedimos o banco de utilizar novos métodos de acesso. Porém, a estabilidade do plano alcançada pelos HINTS pode ser uma vantagem em sistemas com modelos mal desenhados.</a:t>
            </a:r>
            <a:endParaRPr lang="pt-BR" sz="2400" dirty="0"/>
          </a:p>
        </p:txBody>
      </p:sp>
    </p:spTree>
    <p:extLst>
      <p:ext uri="{BB962C8B-B14F-4D97-AF65-F5344CB8AC3E}">
        <p14:creationId xmlns:p14="http://schemas.microsoft.com/office/powerpoint/2010/main" val="37213782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1821</TotalTime>
  <Words>2706</Words>
  <Application>Microsoft Office PowerPoint</Application>
  <PresentationFormat>Widescreen</PresentationFormat>
  <Paragraphs>233</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PowerPoint Presentation</vt:lpstr>
      <vt:lpstr>Bancos de Dados  Por que planos de acesso ficam ruins?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 dolor sit amet, quisque posuere ornare pellentesque!</dc:title>
  <dc:creator>Lisandra Barros Mendonça</dc:creator>
  <cp:lastModifiedBy>Arthur Eduardo Freitas Heinrich</cp:lastModifiedBy>
  <cp:revision>191</cp:revision>
  <dcterms:created xsi:type="dcterms:W3CDTF">2016-03-15T13:37:54Z</dcterms:created>
  <dcterms:modified xsi:type="dcterms:W3CDTF">2018-12-05T19:59:16Z</dcterms:modified>
</cp:coreProperties>
</file>