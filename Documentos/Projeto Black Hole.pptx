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2" r:id="rId2"/>
    <p:sldId id="256" r:id="rId3"/>
    <p:sldId id="317" r:id="rId4"/>
    <p:sldId id="313" r:id="rId5"/>
    <p:sldId id="319" r:id="rId6"/>
    <p:sldId id="321" r:id="rId7"/>
    <p:sldId id="295" r:id="rId8"/>
    <p:sldId id="315" r:id="rId9"/>
    <p:sldId id="323" r:id="rId10"/>
    <p:sldId id="322" r:id="rId11"/>
    <p:sldId id="314" r:id="rId12"/>
    <p:sldId id="316" r:id="rId13"/>
    <p:sldId id="318" r:id="rId14"/>
    <p:sldId id="320" r:id="rId15"/>
    <p:sldId id="285" r:id="rId16"/>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6524"/>
    <a:srgbClr val="64983C"/>
    <a:srgbClr val="348DCC"/>
    <a:srgbClr val="EC7906"/>
    <a:srgbClr val="CFE6F9"/>
    <a:srgbClr val="FBE4C5"/>
    <a:srgbClr val="5F2C09"/>
    <a:srgbClr val="2310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59" autoAdjust="0"/>
    <p:restoredTop sz="94660"/>
  </p:normalViewPr>
  <p:slideViewPr>
    <p:cSldViewPr snapToGrid="0">
      <p:cViewPr varScale="1">
        <p:scale>
          <a:sx n="106" d="100"/>
          <a:sy n="106" d="100"/>
        </p:scale>
        <p:origin x="108" y="3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pt-B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pt-BR"/>
          </a:p>
        </p:txBody>
      </p:sp>
      <p:sp>
        <p:nvSpPr>
          <p:cNvPr id="4" name="Date Placeholder 3"/>
          <p:cNvSpPr>
            <a:spLocks noGrp="1"/>
          </p:cNvSpPr>
          <p:nvPr>
            <p:ph type="dt" sz="half" idx="10"/>
          </p:nvPr>
        </p:nvSpPr>
        <p:spPr/>
        <p:txBody>
          <a:bodyPr/>
          <a:lstStyle/>
          <a:p>
            <a:fld id="{742945FB-E5C9-40D8-97EC-C64F1B55F91B}" type="datetimeFigureOut">
              <a:rPr lang="pt-BR" smtClean="0"/>
              <a:t>06/03/2017</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4FF7A65B-81B6-44F6-9996-8660B5A72A47}" type="slidenum">
              <a:rPr lang="pt-BR" smtClean="0"/>
              <a:t>‹#›</a:t>
            </a:fld>
            <a:endParaRPr lang="pt-BR"/>
          </a:p>
        </p:txBody>
      </p:sp>
    </p:spTree>
    <p:extLst>
      <p:ext uri="{BB962C8B-B14F-4D97-AF65-F5344CB8AC3E}">
        <p14:creationId xmlns:p14="http://schemas.microsoft.com/office/powerpoint/2010/main" val="1125215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pt-B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t-BR"/>
          </a:p>
        </p:txBody>
      </p:sp>
      <p:sp>
        <p:nvSpPr>
          <p:cNvPr id="4" name="Date Placeholder 3"/>
          <p:cNvSpPr>
            <a:spLocks noGrp="1"/>
          </p:cNvSpPr>
          <p:nvPr>
            <p:ph type="dt" sz="half" idx="10"/>
          </p:nvPr>
        </p:nvSpPr>
        <p:spPr/>
        <p:txBody>
          <a:bodyPr/>
          <a:lstStyle/>
          <a:p>
            <a:fld id="{742945FB-E5C9-40D8-97EC-C64F1B55F91B}" type="datetimeFigureOut">
              <a:rPr lang="pt-BR" smtClean="0"/>
              <a:t>06/03/2017</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4FF7A65B-81B6-44F6-9996-8660B5A72A47}" type="slidenum">
              <a:rPr lang="pt-BR" smtClean="0"/>
              <a:t>‹#›</a:t>
            </a:fld>
            <a:endParaRPr lang="pt-BR"/>
          </a:p>
        </p:txBody>
      </p:sp>
    </p:spTree>
    <p:extLst>
      <p:ext uri="{BB962C8B-B14F-4D97-AF65-F5344CB8AC3E}">
        <p14:creationId xmlns:p14="http://schemas.microsoft.com/office/powerpoint/2010/main" val="1242830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pt-B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42945FB-E5C9-40D8-97EC-C64F1B55F91B}" type="datetimeFigureOut">
              <a:rPr lang="pt-BR" smtClean="0"/>
              <a:t>06/03/2017</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4FF7A65B-81B6-44F6-9996-8660B5A72A47}" type="slidenum">
              <a:rPr lang="pt-BR" smtClean="0"/>
              <a:t>‹#›</a:t>
            </a:fld>
            <a:endParaRPr lang="pt-BR"/>
          </a:p>
        </p:txBody>
      </p:sp>
    </p:spTree>
    <p:extLst>
      <p:ext uri="{BB962C8B-B14F-4D97-AF65-F5344CB8AC3E}">
        <p14:creationId xmlns:p14="http://schemas.microsoft.com/office/powerpoint/2010/main" val="604808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pt-BR"/>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t-BR"/>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t-BR"/>
          </a:p>
        </p:txBody>
      </p:sp>
      <p:sp>
        <p:nvSpPr>
          <p:cNvPr id="5" name="Date Placeholder 4"/>
          <p:cNvSpPr>
            <a:spLocks noGrp="1"/>
          </p:cNvSpPr>
          <p:nvPr>
            <p:ph type="dt" sz="half" idx="10"/>
          </p:nvPr>
        </p:nvSpPr>
        <p:spPr/>
        <p:txBody>
          <a:bodyPr/>
          <a:lstStyle/>
          <a:p>
            <a:fld id="{742945FB-E5C9-40D8-97EC-C64F1B55F91B}" type="datetimeFigureOut">
              <a:rPr lang="pt-BR" smtClean="0"/>
              <a:t>06/03/2017</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4FF7A65B-81B6-44F6-9996-8660B5A72A47}" type="slidenum">
              <a:rPr lang="pt-BR" smtClean="0"/>
              <a:t>‹#›</a:t>
            </a:fld>
            <a:endParaRPr lang="pt-BR"/>
          </a:p>
        </p:txBody>
      </p:sp>
    </p:spTree>
    <p:extLst>
      <p:ext uri="{BB962C8B-B14F-4D97-AF65-F5344CB8AC3E}">
        <p14:creationId xmlns:p14="http://schemas.microsoft.com/office/powerpoint/2010/main" val="149207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pt-B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t-B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t-BR"/>
          </a:p>
        </p:txBody>
      </p:sp>
      <p:sp>
        <p:nvSpPr>
          <p:cNvPr id="7" name="Date Placeholder 6"/>
          <p:cNvSpPr>
            <a:spLocks noGrp="1"/>
          </p:cNvSpPr>
          <p:nvPr>
            <p:ph type="dt" sz="half" idx="10"/>
          </p:nvPr>
        </p:nvSpPr>
        <p:spPr/>
        <p:txBody>
          <a:bodyPr/>
          <a:lstStyle/>
          <a:p>
            <a:fld id="{742945FB-E5C9-40D8-97EC-C64F1B55F91B}" type="datetimeFigureOut">
              <a:rPr lang="pt-BR" smtClean="0"/>
              <a:t>06/03/2017</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4FF7A65B-81B6-44F6-9996-8660B5A72A47}" type="slidenum">
              <a:rPr lang="pt-BR" smtClean="0"/>
              <a:t>‹#›</a:t>
            </a:fld>
            <a:endParaRPr lang="pt-BR"/>
          </a:p>
        </p:txBody>
      </p:sp>
    </p:spTree>
    <p:extLst>
      <p:ext uri="{BB962C8B-B14F-4D97-AF65-F5344CB8AC3E}">
        <p14:creationId xmlns:p14="http://schemas.microsoft.com/office/powerpoint/2010/main" val="4289740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pt-BR"/>
          </a:p>
        </p:txBody>
      </p:sp>
      <p:sp>
        <p:nvSpPr>
          <p:cNvPr id="3" name="Date Placeholder 2"/>
          <p:cNvSpPr>
            <a:spLocks noGrp="1"/>
          </p:cNvSpPr>
          <p:nvPr>
            <p:ph type="dt" sz="half" idx="10"/>
          </p:nvPr>
        </p:nvSpPr>
        <p:spPr/>
        <p:txBody>
          <a:bodyPr/>
          <a:lstStyle/>
          <a:p>
            <a:fld id="{742945FB-E5C9-40D8-97EC-C64F1B55F91B}" type="datetimeFigureOut">
              <a:rPr lang="pt-BR" smtClean="0"/>
              <a:t>06/03/2017</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4FF7A65B-81B6-44F6-9996-8660B5A72A47}" type="slidenum">
              <a:rPr lang="pt-BR" smtClean="0"/>
              <a:t>‹#›</a:t>
            </a:fld>
            <a:endParaRPr lang="pt-BR"/>
          </a:p>
        </p:txBody>
      </p:sp>
    </p:spTree>
    <p:extLst>
      <p:ext uri="{BB962C8B-B14F-4D97-AF65-F5344CB8AC3E}">
        <p14:creationId xmlns:p14="http://schemas.microsoft.com/office/powerpoint/2010/main" val="3850374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2945FB-E5C9-40D8-97EC-C64F1B55F91B}" type="datetimeFigureOut">
              <a:rPr lang="pt-BR" smtClean="0"/>
              <a:t>06/03/2017</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4FF7A65B-81B6-44F6-9996-8660B5A72A47}" type="slidenum">
              <a:rPr lang="pt-BR" smtClean="0"/>
              <a:t>‹#›</a:t>
            </a:fld>
            <a:endParaRPr lang="pt-BR"/>
          </a:p>
        </p:txBody>
      </p:sp>
    </p:spTree>
    <p:extLst>
      <p:ext uri="{BB962C8B-B14F-4D97-AF65-F5344CB8AC3E}">
        <p14:creationId xmlns:p14="http://schemas.microsoft.com/office/powerpoint/2010/main" val="3508970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pt-B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t-B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42945FB-E5C9-40D8-97EC-C64F1B55F91B}" type="datetimeFigureOut">
              <a:rPr lang="pt-BR" smtClean="0"/>
              <a:t>06/03/2017</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4FF7A65B-81B6-44F6-9996-8660B5A72A47}" type="slidenum">
              <a:rPr lang="pt-BR" smtClean="0"/>
              <a:t>‹#›</a:t>
            </a:fld>
            <a:endParaRPr lang="pt-BR"/>
          </a:p>
        </p:txBody>
      </p:sp>
    </p:spTree>
    <p:extLst>
      <p:ext uri="{BB962C8B-B14F-4D97-AF65-F5344CB8AC3E}">
        <p14:creationId xmlns:p14="http://schemas.microsoft.com/office/powerpoint/2010/main" val="1716369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pt-B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42945FB-E5C9-40D8-97EC-C64F1B55F91B}" type="datetimeFigureOut">
              <a:rPr lang="pt-BR" smtClean="0"/>
              <a:t>06/03/2017</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4FF7A65B-81B6-44F6-9996-8660B5A72A47}" type="slidenum">
              <a:rPr lang="pt-BR" smtClean="0"/>
              <a:t>‹#›</a:t>
            </a:fld>
            <a:endParaRPr lang="pt-BR"/>
          </a:p>
        </p:txBody>
      </p:sp>
    </p:spTree>
    <p:extLst>
      <p:ext uri="{BB962C8B-B14F-4D97-AF65-F5344CB8AC3E}">
        <p14:creationId xmlns:p14="http://schemas.microsoft.com/office/powerpoint/2010/main" val="1015974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pt-B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t-BR"/>
          </a:p>
        </p:txBody>
      </p:sp>
      <p:sp>
        <p:nvSpPr>
          <p:cNvPr id="4" name="Date Placeholder 3"/>
          <p:cNvSpPr>
            <a:spLocks noGrp="1"/>
          </p:cNvSpPr>
          <p:nvPr>
            <p:ph type="dt" sz="half" idx="10"/>
          </p:nvPr>
        </p:nvSpPr>
        <p:spPr/>
        <p:txBody>
          <a:bodyPr/>
          <a:lstStyle/>
          <a:p>
            <a:fld id="{742945FB-E5C9-40D8-97EC-C64F1B55F91B}" type="datetimeFigureOut">
              <a:rPr lang="pt-BR" smtClean="0"/>
              <a:t>06/03/2017</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4FF7A65B-81B6-44F6-9996-8660B5A72A47}" type="slidenum">
              <a:rPr lang="pt-BR" smtClean="0"/>
              <a:t>‹#›</a:t>
            </a:fld>
            <a:endParaRPr lang="pt-BR"/>
          </a:p>
        </p:txBody>
      </p:sp>
    </p:spTree>
    <p:extLst>
      <p:ext uri="{BB962C8B-B14F-4D97-AF65-F5344CB8AC3E}">
        <p14:creationId xmlns:p14="http://schemas.microsoft.com/office/powerpoint/2010/main" val="182461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pt-B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t-BR"/>
          </a:p>
        </p:txBody>
      </p:sp>
      <p:sp>
        <p:nvSpPr>
          <p:cNvPr id="4" name="Date Placeholder 3"/>
          <p:cNvSpPr>
            <a:spLocks noGrp="1"/>
          </p:cNvSpPr>
          <p:nvPr>
            <p:ph type="dt" sz="half" idx="10"/>
          </p:nvPr>
        </p:nvSpPr>
        <p:spPr/>
        <p:txBody>
          <a:bodyPr/>
          <a:lstStyle/>
          <a:p>
            <a:fld id="{742945FB-E5C9-40D8-97EC-C64F1B55F91B}" type="datetimeFigureOut">
              <a:rPr lang="pt-BR" smtClean="0"/>
              <a:t>06/03/2017</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4FF7A65B-81B6-44F6-9996-8660B5A72A47}" type="slidenum">
              <a:rPr lang="pt-BR" smtClean="0"/>
              <a:t>‹#›</a:t>
            </a:fld>
            <a:endParaRPr lang="pt-BR"/>
          </a:p>
        </p:txBody>
      </p:sp>
    </p:spTree>
    <p:extLst>
      <p:ext uri="{BB962C8B-B14F-4D97-AF65-F5344CB8AC3E}">
        <p14:creationId xmlns:p14="http://schemas.microsoft.com/office/powerpoint/2010/main" val="1281428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pt-B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t-B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2945FB-E5C9-40D8-97EC-C64F1B55F91B}" type="datetimeFigureOut">
              <a:rPr lang="pt-BR" smtClean="0"/>
              <a:t>06/03/2017</a:t>
            </a:fld>
            <a:endParaRPr lang="pt-B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F7A65B-81B6-44F6-9996-8660B5A72A47}" type="slidenum">
              <a:rPr lang="pt-BR" smtClean="0"/>
              <a:t>‹#›</a:t>
            </a:fld>
            <a:endParaRPr lang="pt-BR"/>
          </a:p>
        </p:txBody>
      </p:sp>
    </p:spTree>
    <p:extLst>
      <p:ext uri="{BB962C8B-B14F-4D97-AF65-F5344CB8AC3E}">
        <p14:creationId xmlns:p14="http://schemas.microsoft.com/office/powerpoint/2010/main" val="37215753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gif"/><Relationship Id="rId1" Type="http://schemas.openxmlformats.org/officeDocument/2006/relationships/slideLayout" Target="../slideLayouts/slideLayout1.xml"/><Relationship Id="rId4" Type="http://schemas.openxmlformats.org/officeDocument/2006/relationships/hyperlink" Target="https://confluence.intranet.uol.com.br/confluence/display/UIP/uoldiveo+-+Black+Hole+BD"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818694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1605967" y="750246"/>
            <a:ext cx="9240420" cy="2967915"/>
          </a:xfrm>
        </p:spPr>
        <p:txBody>
          <a:bodyPr anchor="t">
            <a:normAutofit fontScale="90000"/>
          </a:bodyPr>
          <a:lstStyle/>
          <a:p>
            <a:pPr marL="360000" algn="l">
              <a:lnSpc>
                <a:spcPct val="80000"/>
              </a:lnSpc>
              <a:spcBef>
                <a:spcPts val="0"/>
              </a:spcBef>
            </a:pPr>
            <a:r>
              <a:rPr lang="pt-BR" sz="3200" b="1" dirty="0" smtClean="0">
                <a:solidFill>
                  <a:schemeClr val="tx1">
                    <a:lumMod val="65000"/>
                    <a:lumOff val="35000"/>
                  </a:schemeClr>
                </a:solidFill>
                <a:latin typeface="+mn-lt"/>
              </a:rPr>
              <a:t>PROJETO:</a:t>
            </a:r>
            <a:br>
              <a:rPr lang="pt-BR" sz="3200" b="1" dirty="0" smtClean="0">
                <a:solidFill>
                  <a:schemeClr val="tx1">
                    <a:lumMod val="65000"/>
                    <a:lumOff val="35000"/>
                  </a:schemeClr>
                </a:solidFill>
                <a:latin typeface="+mn-lt"/>
              </a:rPr>
            </a:br>
            <a:r>
              <a:rPr lang="pt-BR" sz="3200" b="1" dirty="0" smtClean="0">
                <a:solidFill>
                  <a:schemeClr val="tx1">
                    <a:lumMod val="65000"/>
                    <a:lumOff val="35000"/>
                  </a:schemeClr>
                </a:solidFill>
                <a:latin typeface="+mn-lt"/>
              </a:rPr>
              <a:t/>
            </a:r>
            <a:br>
              <a:rPr lang="pt-BR" sz="3200" b="1" dirty="0" smtClean="0">
                <a:solidFill>
                  <a:schemeClr val="tx1">
                    <a:lumMod val="65000"/>
                    <a:lumOff val="35000"/>
                  </a:schemeClr>
                </a:solidFill>
                <a:latin typeface="+mn-lt"/>
              </a:rPr>
            </a:br>
            <a:r>
              <a:rPr lang="pt-BR" sz="3200" b="1" dirty="0" smtClean="0">
                <a:solidFill>
                  <a:schemeClr val="tx1">
                    <a:lumMod val="65000"/>
                    <a:lumOff val="35000"/>
                  </a:schemeClr>
                </a:solidFill>
                <a:latin typeface="+mn-lt"/>
              </a:rPr>
              <a:t>			</a:t>
            </a:r>
            <a:r>
              <a:rPr lang="pt-BR" b="1" dirty="0" smtClean="0">
                <a:solidFill>
                  <a:schemeClr val="tx1">
                    <a:lumMod val="65000"/>
                    <a:lumOff val="35000"/>
                  </a:schemeClr>
                </a:solidFill>
                <a:latin typeface="+mn-lt"/>
              </a:rPr>
              <a:t>Black </a:t>
            </a:r>
            <a:r>
              <a:rPr lang="pt-BR" b="1" dirty="0" err="1" smtClean="0">
                <a:solidFill>
                  <a:schemeClr val="tx1">
                    <a:lumMod val="65000"/>
                    <a:lumOff val="35000"/>
                  </a:schemeClr>
                </a:solidFill>
                <a:latin typeface="+mn-lt"/>
              </a:rPr>
              <a:t>Hole</a:t>
            </a:r>
            <a:r>
              <a:rPr lang="pt-BR" b="1" dirty="0" smtClean="0">
                <a:solidFill>
                  <a:schemeClr val="tx1">
                    <a:lumMod val="65000"/>
                    <a:lumOff val="35000"/>
                  </a:schemeClr>
                </a:solidFill>
                <a:latin typeface="+mn-lt"/>
              </a:rPr>
              <a:t/>
            </a:r>
            <a:br>
              <a:rPr lang="pt-BR" b="1" dirty="0" smtClean="0">
                <a:solidFill>
                  <a:schemeClr val="tx1">
                    <a:lumMod val="65000"/>
                    <a:lumOff val="35000"/>
                  </a:schemeClr>
                </a:solidFill>
                <a:latin typeface="+mn-lt"/>
              </a:rPr>
            </a:br>
            <a:r>
              <a:rPr lang="pt-BR" b="1" dirty="0" smtClean="0">
                <a:solidFill>
                  <a:schemeClr val="tx1">
                    <a:lumMod val="65000"/>
                    <a:lumOff val="35000"/>
                  </a:schemeClr>
                </a:solidFill>
                <a:latin typeface="+mn-lt"/>
              </a:rPr>
              <a:t/>
            </a:r>
            <a:br>
              <a:rPr lang="pt-BR" b="1" dirty="0" smtClean="0">
                <a:solidFill>
                  <a:schemeClr val="tx1">
                    <a:lumMod val="65000"/>
                    <a:lumOff val="35000"/>
                  </a:schemeClr>
                </a:solidFill>
                <a:latin typeface="+mn-lt"/>
              </a:rPr>
            </a:br>
            <a:r>
              <a:rPr lang="pt-BR" b="1" dirty="0" smtClean="0">
                <a:solidFill>
                  <a:schemeClr val="tx1">
                    <a:lumMod val="65000"/>
                    <a:lumOff val="35000"/>
                  </a:schemeClr>
                </a:solidFill>
                <a:latin typeface="+mn-lt"/>
              </a:rPr>
              <a:t/>
            </a:r>
            <a:br>
              <a:rPr lang="pt-BR" b="1" dirty="0" smtClean="0">
                <a:solidFill>
                  <a:schemeClr val="tx1">
                    <a:lumMod val="65000"/>
                    <a:lumOff val="35000"/>
                  </a:schemeClr>
                </a:solidFill>
                <a:latin typeface="+mn-lt"/>
              </a:rPr>
            </a:br>
            <a:r>
              <a:rPr lang="pt-BR" b="1" dirty="0" smtClean="0">
                <a:solidFill>
                  <a:schemeClr val="tx1">
                    <a:lumMod val="65000"/>
                    <a:lumOff val="35000"/>
                  </a:schemeClr>
                </a:solidFill>
                <a:latin typeface="+mn-lt"/>
              </a:rPr>
              <a:t/>
            </a:r>
            <a:br>
              <a:rPr lang="pt-BR" b="1" dirty="0" smtClean="0">
                <a:solidFill>
                  <a:schemeClr val="tx1">
                    <a:lumMod val="65000"/>
                    <a:lumOff val="35000"/>
                  </a:schemeClr>
                </a:solidFill>
                <a:latin typeface="+mn-lt"/>
              </a:rPr>
            </a:br>
            <a:r>
              <a:rPr lang="pt-BR" b="1" dirty="0" smtClean="0">
                <a:solidFill>
                  <a:schemeClr val="tx1">
                    <a:lumMod val="65000"/>
                    <a:lumOff val="35000"/>
                  </a:schemeClr>
                </a:solidFill>
                <a:latin typeface="+mn-lt"/>
              </a:rPr>
              <a:t>	 </a:t>
            </a:r>
            <a:r>
              <a:rPr lang="pt-BR" sz="4800" b="1" dirty="0" smtClean="0">
                <a:solidFill>
                  <a:schemeClr val="tx1">
                    <a:lumMod val="65000"/>
                    <a:lumOff val="35000"/>
                  </a:schemeClr>
                </a:solidFill>
                <a:latin typeface="+mn-lt"/>
              </a:rPr>
              <a:t>Administração Proativa de BD</a:t>
            </a:r>
            <a:endParaRPr lang="pt-BR" b="1" dirty="0">
              <a:solidFill>
                <a:schemeClr val="tx1">
                  <a:lumMod val="65000"/>
                  <a:lumOff val="35000"/>
                </a:schemeClr>
              </a:solidFill>
              <a:latin typeface="+mn-lt"/>
            </a:endParaRPr>
          </a:p>
        </p:txBody>
      </p:sp>
      <p:sp>
        <p:nvSpPr>
          <p:cNvPr id="5" name="Subtitle 2"/>
          <p:cNvSpPr>
            <a:spLocks noGrp="1"/>
          </p:cNvSpPr>
          <p:nvPr>
            <p:ph type="subTitle" idx="1"/>
          </p:nvPr>
        </p:nvSpPr>
        <p:spPr>
          <a:xfrm>
            <a:off x="1952978" y="5516575"/>
            <a:ext cx="6678298" cy="1228257"/>
          </a:xfrm>
        </p:spPr>
        <p:txBody>
          <a:bodyPr>
            <a:normAutofit/>
          </a:bodyPr>
          <a:lstStyle/>
          <a:p>
            <a:pPr algn="l">
              <a:lnSpc>
                <a:spcPct val="60000"/>
              </a:lnSpc>
            </a:pPr>
            <a:r>
              <a:rPr lang="pt-BR" dirty="0" smtClean="0">
                <a:solidFill>
                  <a:schemeClr val="tx1">
                    <a:lumMod val="65000"/>
                    <a:lumOff val="35000"/>
                  </a:schemeClr>
                </a:solidFill>
              </a:rPr>
              <a:t>Arthur Heinrich</a:t>
            </a:r>
          </a:p>
          <a:p>
            <a:pPr algn="l">
              <a:lnSpc>
                <a:spcPct val="60000"/>
              </a:lnSpc>
            </a:pPr>
            <a:r>
              <a:rPr lang="pt-BR" dirty="0" smtClean="0">
                <a:solidFill>
                  <a:schemeClr val="tx1">
                    <a:lumMod val="65000"/>
                    <a:lumOff val="35000"/>
                  </a:schemeClr>
                </a:solidFill>
              </a:rPr>
              <a:t>Eduardo Ribeiro</a:t>
            </a:r>
          </a:p>
          <a:p>
            <a:pPr algn="l">
              <a:lnSpc>
                <a:spcPct val="60000"/>
              </a:lnSpc>
            </a:pPr>
            <a:r>
              <a:rPr lang="pt-BR" i="1" dirty="0" smtClean="0">
                <a:solidFill>
                  <a:schemeClr val="tx1">
                    <a:lumMod val="65000"/>
                    <a:lumOff val="35000"/>
                  </a:schemeClr>
                </a:solidFill>
              </a:rPr>
              <a:t>	#HYPERCARE</a:t>
            </a:r>
            <a:endParaRPr lang="pt-BR" i="1" dirty="0">
              <a:solidFill>
                <a:schemeClr val="tx1">
                  <a:lumMod val="65000"/>
                  <a:lumOff val="35000"/>
                </a:schemeClr>
              </a:solidFill>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pic>
        <p:nvPicPr>
          <p:cNvPr id="1026" name="Picture 2" descr="Resultado de imagem para black hol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55539" y="2132927"/>
            <a:ext cx="3574661" cy="2010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10809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7"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Definição</a:t>
            </a:r>
            <a:endParaRPr lang="pt-BR" sz="2700" dirty="0">
              <a:solidFill>
                <a:schemeClr val="tx1">
                  <a:lumMod val="65000"/>
                  <a:lumOff val="35000"/>
                </a:schemeClr>
              </a:solidFill>
              <a:latin typeface="+mn-lt"/>
            </a:endParaRPr>
          </a:p>
        </p:txBody>
      </p:sp>
      <p:sp>
        <p:nvSpPr>
          <p:cNvPr id="9" name="Subtitle 2"/>
          <p:cNvSpPr txBox="1">
            <a:spLocks/>
          </p:cNvSpPr>
          <p:nvPr/>
        </p:nvSpPr>
        <p:spPr>
          <a:xfrm>
            <a:off x="2028945" y="1361660"/>
            <a:ext cx="8980069" cy="435243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10000"/>
              </a:lnSpc>
            </a:pPr>
            <a:r>
              <a:rPr lang="pt-BR" sz="1800" dirty="0" smtClean="0">
                <a:solidFill>
                  <a:schemeClr val="tx1">
                    <a:lumMod val="50000"/>
                    <a:lumOff val="50000"/>
                  </a:schemeClr>
                </a:solidFill>
              </a:rPr>
              <a:t>Administrar “</a:t>
            </a:r>
            <a:r>
              <a:rPr lang="pt-BR" sz="1800" dirty="0" err="1" smtClean="0">
                <a:solidFill>
                  <a:schemeClr val="tx1">
                    <a:lumMod val="50000"/>
                    <a:lumOff val="50000"/>
                  </a:schemeClr>
                </a:solidFill>
              </a:rPr>
              <a:t>proativamente</a:t>
            </a:r>
            <a:r>
              <a:rPr lang="pt-BR" sz="1800" dirty="0" smtClean="0">
                <a:solidFill>
                  <a:schemeClr val="tx1">
                    <a:lumMod val="50000"/>
                    <a:lumOff val="50000"/>
                  </a:schemeClr>
                </a:solidFill>
              </a:rPr>
              <a:t>” significa prever acontecimentos e agir, antecipadamente, evitando que problemas aconteçam.</a:t>
            </a:r>
          </a:p>
          <a:p>
            <a:pPr algn="l">
              <a:lnSpc>
                <a:spcPct val="110000"/>
              </a:lnSpc>
            </a:pPr>
            <a:r>
              <a:rPr lang="pt-BR" sz="1800" dirty="0" smtClean="0">
                <a:solidFill>
                  <a:schemeClr val="tx1">
                    <a:lumMod val="50000"/>
                    <a:lumOff val="50000"/>
                  </a:schemeClr>
                </a:solidFill>
              </a:rPr>
              <a:t>Para isso, é necessário que informações estejam disponíveis e organizadas, permitindo uma análise preditiva segura e eficiente.</a:t>
            </a:r>
          </a:p>
          <a:p>
            <a:pPr algn="l">
              <a:lnSpc>
                <a:spcPct val="110000"/>
              </a:lnSpc>
            </a:pPr>
            <a:r>
              <a:rPr lang="pt-BR" sz="1800" dirty="0" smtClean="0">
                <a:solidFill>
                  <a:schemeClr val="tx1">
                    <a:lumMod val="50000"/>
                    <a:lumOff val="50000"/>
                  </a:schemeClr>
                </a:solidFill>
              </a:rPr>
              <a:t>A este conjunto de informações consolidadas e aos sistemas que viabilizam a sua coleta e armazenamento, demos o nome de “Black </a:t>
            </a:r>
            <a:r>
              <a:rPr lang="pt-BR" sz="1800" dirty="0" err="1" smtClean="0">
                <a:solidFill>
                  <a:schemeClr val="tx1">
                    <a:lumMod val="50000"/>
                    <a:lumOff val="50000"/>
                  </a:schemeClr>
                </a:solidFill>
              </a:rPr>
              <a:t>Hole</a:t>
            </a:r>
            <a:r>
              <a:rPr lang="pt-BR" sz="1800" dirty="0" smtClean="0">
                <a:solidFill>
                  <a:schemeClr val="tx1">
                    <a:lumMod val="50000"/>
                    <a:lumOff val="50000"/>
                  </a:schemeClr>
                </a:solidFill>
              </a:rPr>
              <a:t>”.</a:t>
            </a:r>
          </a:p>
          <a:p>
            <a:pPr algn="l">
              <a:lnSpc>
                <a:spcPct val="110000"/>
              </a:lnSpc>
            </a:pPr>
            <a:r>
              <a:rPr lang="pt-BR" sz="1800" dirty="0" smtClean="0">
                <a:solidFill>
                  <a:schemeClr val="tx1">
                    <a:lumMod val="50000"/>
                    <a:lumOff val="50000"/>
                  </a:schemeClr>
                </a:solidFill>
              </a:rPr>
              <a:t>Este nome foi escolhido em função da arquitetura do projeto, onde as informações são enviadas de todo o universo de sistemas e bancos de dados, para uma base central, consolidada.</a:t>
            </a:r>
          </a:p>
          <a:p>
            <a:pPr algn="l">
              <a:lnSpc>
                <a:spcPct val="110000"/>
              </a:lnSpc>
            </a:pPr>
            <a:endParaRPr lang="pt-BR" sz="1800" dirty="0">
              <a:solidFill>
                <a:schemeClr val="tx1">
                  <a:lumMod val="50000"/>
                  <a:lumOff val="50000"/>
                </a:schemeClr>
              </a:solidFill>
            </a:endParaRPr>
          </a:p>
        </p:txBody>
      </p:sp>
      <p:grpSp>
        <p:nvGrpSpPr>
          <p:cNvPr id="5" name="Group 4"/>
          <p:cNvGrpSpPr/>
          <p:nvPr/>
        </p:nvGrpSpPr>
        <p:grpSpPr>
          <a:xfrm>
            <a:off x="4812339" y="4305035"/>
            <a:ext cx="2205813" cy="2306419"/>
            <a:chOff x="0" y="-13123"/>
            <a:chExt cx="3657596" cy="3823932"/>
          </a:xfrm>
        </p:grpSpPr>
        <p:sp>
          <p:nvSpPr>
            <p:cNvPr id="8" name="Oval 7"/>
            <p:cNvSpPr/>
            <p:nvPr/>
          </p:nvSpPr>
          <p:spPr>
            <a:xfrm>
              <a:off x="1263811" y="1244379"/>
              <a:ext cx="1129005" cy="112900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pt-BR" sz="900" kern="1200" dirty="0" smtClean="0">
                  <a:solidFill>
                    <a:srgbClr val="FFFFFF"/>
                  </a:solidFill>
                  <a:effectLst/>
                  <a:latin typeface="Arial" panose="020B0604020202020204" pitchFamily="34" charset="0"/>
                  <a:ea typeface="Times New Roman" panose="02020603050405020304" pitchFamily="18" charset="0"/>
                </a:rPr>
                <a:t>Black </a:t>
              </a:r>
              <a:r>
                <a:rPr lang="pt-BR" sz="900" kern="1200" dirty="0" err="1" smtClean="0">
                  <a:solidFill>
                    <a:srgbClr val="FFFFFF"/>
                  </a:solidFill>
                  <a:effectLst/>
                  <a:latin typeface="Arial" panose="020B0604020202020204" pitchFamily="34" charset="0"/>
                  <a:ea typeface="Times New Roman" panose="02020603050405020304" pitchFamily="18" charset="0"/>
                </a:rPr>
                <a:t>Hole</a:t>
              </a:r>
              <a:endParaRPr lang="pt-BR" dirty="0">
                <a:effectLst/>
                <a:latin typeface="Times New Roman" panose="02020603050405020304" pitchFamily="18" charset="0"/>
                <a:ea typeface="Times New Roman" panose="02020603050405020304" pitchFamily="18" charset="0"/>
              </a:endParaRPr>
            </a:p>
          </p:txBody>
        </p:sp>
        <p:sp>
          <p:nvSpPr>
            <p:cNvPr id="10" name="Block Arc 9"/>
            <p:cNvSpPr/>
            <p:nvPr/>
          </p:nvSpPr>
          <p:spPr>
            <a:xfrm>
              <a:off x="0" y="6"/>
              <a:ext cx="3648074" cy="3648074"/>
            </a:xfrm>
            <a:prstGeom prst="blockArc">
              <a:avLst>
                <a:gd name="adj1" fmla="val 14919216"/>
                <a:gd name="adj2" fmla="val 17586035"/>
                <a:gd name="adj3" fmla="val 10642"/>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pt-BR"/>
            </a:p>
          </p:txBody>
        </p:sp>
        <p:sp>
          <p:nvSpPr>
            <p:cNvPr id="11" name="Block Arc 10"/>
            <p:cNvSpPr/>
            <p:nvPr/>
          </p:nvSpPr>
          <p:spPr>
            <a:xfrm>
              <a:off x="4761" y="4"/>
              <a:ext cx="3648074" cy="3648074"/>
            </a:xfrm>
            <a:prstGeom prst="blockArc">
              <a:avLst>
                <a:gd name="adj1" fmla="val 11064628"/>
                <a:gd name="adj2" fmla="val 14682100"/>
                <a:gd name="adj3" fmla="val 10679"/>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pt-BR"/>
            </a:p>
          </p:txBody>
        </p:sp>
        <p:sp>
          <p:nvSpPr>
            <p:cNvPr id="12" name="Block Arc 11"/>
            <p:cNvSpPr/>
            <p:nvPr/>
          </p:nvSpPr>
          <p:spPr>
            <a:xfrm>
              <a:off x="4761" y="0"/>
              <a:ext cx="3648074" cy="3648074"/>
            </a:xfrm>
            <a:prstGeom prst="blockArc">
              <a:avLst>
                <a:gd name="adj1" fmla="val 17827757"/>
                <a:gd name="adj2" fmla="val 21252975"/>
                <a:gd name="adj3" fmla="val 10729"/>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pt-BR"/>
            </a:p>
          </p:txBody>
        </p:sp>
        <p:sp>
          <p:nvSpPr>
            <p:cNvPr id="13" name="Cloud Callout 12"/>
            <p:cNvSpPr/>
            <p:nvPr/>
          </p:nvSpPr>
          <p:spPr>
            <a:xfrm>
              <a:off x="1123949" y="2872691"/>
              <a:ext cx="1400176" cy="938118"/>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US" sz="800" kern="1200" dirty="0">
                  <a:solidFill>
                    <a:srgbClr val="000000"/>
                  </a:solidFill>
                  <a:effectLst/>
                  <a:ea typeface="Times New Roman" panose="02020603050405020304" pitchFamily="18" charset="0"/>
                  <a:cs typeface="Times New Roman" panose="02020603050405020304" pitchFamily="18" charset="0"/>
                </a:rPr>
                <a:t>Internet</a:t>
              </a:r>
              <a:endParaRPr lang="pt-BR" sz="600" dirty="0">
                <a:effectLst/>
                <a:latin typeface="Times New Roman" panose="02020603050405020304" pitchFamily="18" charset="0"/>
                <a:ea typeface="Times New Roman" panose="02020603050405020304" pitchFamily="18" charset="0"/>
              </a:endParaRPr>
            </a:p>
            <a:p>
              <a:pPr algn="ctr">
                <a:spcAft>
                  <a:spcPts val="0"/>
                </a:spcAft>
              </a:pPr>
              <a:r>
                <a:rPr lang="en-US" sz="700" kern="1200" dirty="0" err="1">
                  <a:solidFill>
                    <a:srgbClr val="000000"/>
                  </a:solidFill>
                  <a:effectLst/>
                  <a:ea typeface="Times New Roman" panose="02020603050405020304" pitchFamily="18" charset="0"/>
                  <a:cs typeface="Times New Roman" panose="02020603050405020304" pitchFamily="18" charset="0"/>
                </a:rPr>
                <a:t>Clientes</a:t>
              </a:r>
              <a:r>
                <a:rPr lang="en-US" sz="700" kern="1200" dirty="0">
                  <a:solidFill>
                    <a:srgbClr val="000000"/>
                  </a:solidFill>
                  <a:effectLst/>
                  <a:ea typeface="Times New Roman" panose="02020603050405020304" pitchFamily="18" charset="0"/>
                  <a:cs typeface="Times New Roman" panose="02020603050405020304" pitchFamily="18" charset="0"/>
                </a:rPr>
                <a:t> </a:t>
              </a:r>
              <a:r>
                <a:rPr lang="en-US" sz="700" kern="1200" dirty="0" err="1">
                  <a:solidFill>
                    <a:srgbClr val="000000"/>
                  </a:solidFill>
                  <a:effectLst/>
                  <a:ea typeface="Times New Roman" panose="02020603050405020304" pitchFamily="18" charset="0"/>
                  <a:cs typeface="Times New Roman" panose="02020603050405020304" pitchFamily="18" charset="0"/>
                </a:rPr>
                <a:t>Externos</a:t>
              </a:r>
              <a:endParaRPr lang="pt-BR" sz="1100" dirty="0">
                <a:effectLst/>
                <a:latin typeface="Times New Roman" panose="02020603050405020304" pitchFamily="18" charset="0"/>
                <a:ea typeface="Times New Roman" panose="02020603050405020304" pitchFamily="18" charset="0"/>
              </a:endParaRPr>
            </a:p>
          </p:txBody>
        </p:sp>
        <p:sp>
          <p:nvSpPr>
            <p:cNvPr id="14" name="Block Arc 13"/>
            <p:cNvSpPr/>
            <p:nvPr/>
          </p:nvSpPr>
          <p:spPr>
            <a:xfrm>
              <a:off x="0" y="0"/>
              <a:ext cx="3648074" cy="3648074"/>
            </a:xfrm>
            <a:prstGeom prst="blockArc">
              <a:avLst>
                <a:gd name="adj1" fmla="val 7195588"/>
                <a:gd name="adj2" fmla="val 10815072"/>
                <a:gd name="adj3" fmla="val 10872"/>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pt-BR"/>
            </a:p>
          </p:txBody>
        </p:sp>
        <p:sp>
          <p:nvSpPr>
            <p:cNvPr id="15" name="Block Arc 14"/>
            <p:cNvSpPr/>
            <p:nvPr/>
          </p:nvSpPr>
          <p:spPr>
            <a:xfrm>
              <a:off x="9522" y="0"/>
              <a:ext cx="3648074" cy="3648074"/>
            </a:xfrm>
            <a:prstGeom prst="blockArc">
              <a:avLst>
                <a:gd name="adj1" fmla="val 21503769"/>
                <a:gd name="adj2" fmla="val 3570941"/>
                <a:gd name="adj3" fmla="val 10812"/>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pt-BR"/>
            </a:p>
          </p:txBody>
        </p:sp>
        <p:sp>
          <p:nvSpPr>
            <p:cNvPr id="16" name="TextBox 12"/>
            <p:cNvSpPr txBox="1"/>
            <p:nvPr/>
          </p:nvSpPr>
          <p:spPr>
            <a:xfrm>
              <a:off x="1430105" y="-13123"/>
              <a:ext cx="803260" cy="433737"/>
            </a:xfrm>
            <a:prstGeom prst="rect">
              <a:avLst/>
            </a:prstGeom>
            <a:noFill/>
          </p:spPr>
          <p:txBody>
            <a:bodyPr wrap="none" rtlCol="0">
              <a:spAutoFit/>
            </a:bodyPr>
            <a:lstStyle/>
            <a:p>
              <a:pPr>
                <a:spcAft>
                  <a:spcPts val="0"/>
                </a:spcAft>
              </a:pPr>
              <a:r>
                <a:rPr lang="en-US" sz="1100" kern="1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DBAs</a:t>
              </a:r>
              <a:endParaRPr lang="pt-BR" sz="900" dirty="0">
                <a:effectLst/>
                <a:latin typeface="Times New Roman" panose="02020603050405020304" pitchFamily="18" charset="0"/>
                <a:ea typeface="Times New Roman" panose="02020603050405020304" pitchFamily="18" charset="0"/>
              </a:endParaRPr>
            </a:p>
          </p:txBody>
        </p:sp>
        <p:sp>
          <p:nvSpPr>
            <p:cNvPr id="17" name="TextBox 13"/>
            <p:cNvSpPr txBox="1"/>
            <p:nvPr/>
          </p:nvSpPr>
          <p:spPr>
            <a:xfrm rot="18270340">
              <a:off x="25257" y="665037"/>
              <a:ext cx="942740" cy="459309"/>
            </a:xfrm>
            <a:prstGeom prst="rect">
              <a:avLst/>
            </a:prstGeom>
            <a:noFill/>
          </p:spPr>
          <p:txBody>
            <a:bodyPr wrap="none" rtlCol="0">
              <a:spAutoFit/>
            </a:bodyPr>
            <a:lstStyle/>
            <a:p>
              <a:pPr>
                <a:spcAft>
                  <a:spcPts val="0"/>
                </a:spcAft>
              </a:pPr>
              <a:r>
                <a:rPr lang="en-US" sz="1200" kern="1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DC GT</a:t>
              </a:r>
              <a:endParaRPr lang="pt-BR" sz="1000" dirty="0">
                <a:effectLst/>
                <a:latin typeface="Times New Roman" panose="02020603050405020304" pitchFamily="18" charset="0"/>
                <a:ea typeface="Times New Roman" panose="02020603050405020304" pitchFamily="18" charset="0"/>
              </a:endParaRPr>
            </a:p>
          </p:txBody>
        </p:sp>
        <p:sp>
          <p:nvSpPr>
            <p:cNvPr id="18" name="TextBox 14"/>
            <p:cNvSpPr txBox="1"/>
            <p:nvPr/>
          </p:nvSpPr>
          <p:spPr>
            <a:xfrm rot="3409839">
              <a:off x="2752092" y="741235"/>
              <a:ext cx="920097" cy="459309"/>
            </a:xfrm>
            <a:prstGeom prst="rect">
              <a:avLst/>
            </a:prstGeom>
            <a:noFill/>
          </p:spPr>
          <p:txBody>
            <a:bodyPr wrap="none" rtlCol="0">
              <a:spAutoFit/>
            </a:bodyPr>
            <a:lstStyle/>
            <a:p>
              <a:pPr>
                <a:spcAft>
                  <a:spcPts val="0"/>
                </a:spcAft>
              </a:pPr>
              <a:r>
                <a:rPr lang="en-US" sz="1200" kern="1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DC TB</a:t>
              </a:r>
              <a:endParaRPr lang="pt-BR" sz="1000" dirty="0">
                <a:effectLst/>
                <a:latin typeface="Times New Roman" panose="02020603050405020304" pitchFamily="18" charset="0"/>
                <a:ea typeface="Times New Roman" panose="02020603050405020304" pitchFamily="18" charset="0"/>
              </a:endParaRPr>
            </a:p>
          </p:txBody>
        </p:sp>
        <p:sp>
          <p:nvSpPr>
            <p:cNvPr id="19" name="TextBox 15"/>
            <p:cNvSpPr txBox="1"/>
            <p:nvPr/>
          </p:nvSpPr>
          <p:spPr>
            <a:xfrm rot="14429044">
              <a:off x="-41785" y="2384222"/>
              <a:ext cx="901493" cy="459309"/>
            </a:xfrm>
            <a:prstGeom prst="rect">
              <a:avLst/>
            </a:prstGeom>
            <a:noFill/>
          </p:spPr>
          <p:txBody>
            <a:bodyPr wrap="none" rtlCol="0">
              <a:spAutoFit/>
            </a:bodyPr>
            <a:lstStyle/>
            <a:p>
              <a:pPr>
                <a:spcAft>
                  <a:spcPts val="0"/>
                </a:spcAft>
              </a:pPr>
              <a:r>
                <a:rPr lang="en-US" sz="1200" kern="1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DC BL</a:t>
              </a:r>
              <a:endParaRPr lang="pt-BR" sz="1000" dirty="0">
                <a:effectLst/>
                <a:latin typeface="Times New Roman" panose="02020603050405020304" pitchFamily="18" charset="0"/>
                <a:ea typeface="Times New Roman" panose="02020603050405020304" pitchFamily="18" charset="0"/>
              </a:endParaRPr>
            </a:p>
          </p:txBody>
        </p:sp>
        <p:sp>
          <p:nvSpPr>
            <p:cNvPr id="20" name="TextBox 16"/>
            <p:cNvSpPr txBox="1"/>
            <p:nvPr/>
          </p:nvSpPr>
          <p:spPr>
            <a:xfrm rot="7171783">
              <a:off x="2818154" y="2384222"/>
              <a:ext cx="845682" cy="459309"/>
            </a:xfrm>
            <a:prstGeom prst="rect">
              <a:avLst/>
            </a:prstGeom>
            <a:noFill/>
          </p:spPr>
          <p:txBody>
            <a:bodyPr wrap="none" rtlCol="0">
              <a:spAutoFit/>
            </a:bodyPr>
            <a:lstStyle/>
            <a:p>
              <a:pPr>
                <a:spcAft>
                  <a:spcPts val="0"/>
                </a:spcAft>
              </a:pPr>
              <a:r>
                <a:rPr lang="en-US" sz="1200" kern="1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DC IT</a:t>
              </a:r>
              <a:endParaRPr lang="pt-BR" sz="1000" dirty="0">
                <a:effectLst/>
                <a:latin typeface="Times New Roman" panose="02020603050405020304" pitchFamily="18" charset="0"/>
                <a:ea typeface="Times New Roman" panose="02020603050405020304" pitchFamily="18" charset="0"/>
              </a:endParaRPr>
            </a:p>
          </p:txBody>
        </p:sp>
        <p:cxnSp>
          <p:nvCxnSpPr>
            <p:cNvPr id="21" name="Straight Arrow Connector 20"/>
            <p:cNvCxnSpPr>
              <a:stCxn id="16" idx="2"/>
              <a:endCxn id="8" idx="0"/>
            </p:cNvCxnSpPr>
            <p:nvPr/>
          </p:nvCxnSpPr>
          <p:spPr>
            <a:xfrm flipH="1">
              <a:off x="1828315" y="420614"/>
              <a:ext cx="3421" cy="823765"/>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8" idx="2"/>
            </p:cNvCxnSpPr>
            <p:nvPr/>
          </p:nvCxnSpPr>
          <p:spPr>
            <a:xfrm flipH="1">
              <a:off x="2320973" y="1096521"/>
              <a:ext cx="698934" cy="417960"/>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20" idx="2"/>
            </p:cNvCxnSpPr>
            <p:nvPr/>
          </p:nvCxnSpPr>
          <p:spPr>
            <a:xfrm flipH="1" flipV="1">
              <a:off x="2348818" y="2066763"/>
              <a:ext cx="692354" cy="433937"/>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9" idx="2"/>
            </p:cNvCxnSpPr>
            <p:nvPr/>
          </p:nvCxnSpPr>
          <p:spPr>
            <a:xfrm flipV="1">
              <a:off x="608811" y="2086086"/>
              <a:ext cx="714018" cy="414660"/>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660507" y="970489"/>
              <a:ext cx="680455" cy="541792"/>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6" name="TextBox 34"/>
            <p:cNvSpPr txBox="1"/>
            <p:nvPr/>
          </p:nvSpPr>
          <p:spPr>
            <a:xfrm>
              <a:off x="1770121" y="703050"/>
              <a:ext cx="583814" cy="184666"/>
            </a:xfrm>
            <a:prstGeom prst="rect">
              <a:avLst/>
            </a:prstGeom>
            <a:noFill/>
          </p:spPr>
          <p:txBody>
            <a:bodyPr wrap="none" rtlCol="0">
              <a:spAutoFit/>
            </a:bodyPr>
            <a:lstStyle/>
            <a:p>
              <a:pPr>
                <a:spcAft>
                  <a:spcPts val="0"/>
                </a:spcAft>
              </a:pPr>
              <a:r>
                <a:rPr lang="en-US" sz="600" kern="12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22,1521/TCP</a:t>
              </a:r>
              <a:endParaRPr lang="pt-BR" sz="1200">
                <a:effectLst/>
                <a:latin typeface="Times New Roman" panose="02020603050405020304" pitchFamily="18" charset="0"/>
                <a:ea typeface="Times New Roman" panose="02020603050405020304" pitchFamily="18" charset="0"/>
              </a:endParaRPr>
            </a:p>
          </p:txBody>
        </p:sp>
        <p:sp>
          <p:nvSpPr>
            <p:cNvPr id="27" name="TextBox 35"/>
            <p:cNvSpPr txBox="1"/>
            <p:nvPr/>
          </p:nvSpPr>
          <p:spPr>
            <a:xfrm>
              <a:off x="2507264" y="1289223"/>
              <a:ext cx="463550" cy="184150"/>
            </a:xfrm>
            <a:prstGeom prst="rect">
              <a:avLst/>
            </a:prstGeom>
            <a:noFill/>
          </p:spPr>
          <p:txBody>
            <a:bodyPr wrap="none" rtlCol="0">
              <a:spAutoFit/>
            </a:bodyPr>
            <a:lstStyle/>
            <a:p>
              <a:pPr>
                <a:spcAft>
                  <a:spcPts val="0"/>
                </a:spcAft>
              </a:pPr>
              <a:r>
                <a:rPr lang="en-US" sz="600" kern="12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514/UDP</a:t>
              </a:r>
              <a:endParaRPr lang="pt-BR" sz="1200">
                <a:effectLst/>
                <a:latin typeface="Times New Roman" panose="02020603050405020304" pitchFamily="18" charset="0"/>
                <a:ea typeface="Times New Roman" panose="02020603050405020304" pitchFamily="18" charset="0"/>
              </a:endParaRPr>
            </a:p>
          </p:txBody>
        </p:sp>
        <p:sp>
          <p:nvSpPr>
            <p:cNvPr id="28" name="TextBox 36"/>
            <p:cNvSpPr txBox="1"/>
            <p:nvPr/>
          </p:nvSpPr>
          <p:spPr>
            <a:xfrm>
              <a:off x="2243056" y="2310177"/>
              <a:ext cx="463549" cy="184150"/>
            </a:xfrm>
            <a:prstGeom prst="rect">
              <a:avLst/>
            </a:prstGeom>
            <a:noFill/>
          </p:spPr>
          <p:txBody>
            <a:bodyPr wrap="none" rtlCol="0">
              <a:spAutoFit/>
            </a:bodyPr>
            <a:lstStyle/>
            <a:p>
              <a:pPr>
                <a:spcAft>
                  <a:spcPts val="0"/>
                </a:spcAft>
              </a:pPr>
              <a:r>
                <a:rPr lang="en-US" sz="600" kern="12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514/UDP</a:t>
              </a:r>
              <a:endParaRPr lang="pt-BR" sz="1200" dirty="0">
                <a:effectLst/>
                <a:latin typeface="Times New Roman" panose="02020603050405020304" pitchFamily="18" charset="0"/>
                <a:ea typeface="Times New Roman" panose="02020603050405020304" pitchFamily="18" charset="0"/>
              </a:endParaRPr>
            </a:p>
          </p:txBody>
        </p:sp>
        <p:sp>
          <p:nvSpPr>
            <p:cNvPr id="29" name="TextBox 37"/>
            <p:cNvSpPr txBox="1"/>
            <p:nvPr/>
          </p:nvSpPr>
          <p:spPr>
            <a:xfrm>
              <a:off x="476572" y="2005218"/>
              <a:ext cx="463549" cy="184150"/>
            </a:xfrm>
            <a:prstGeom prst="rect">
              <a:avLst/>
            </a:prstGeom>
            <a:noFill/>
          </p:spPr>
          <p:txBody>
            <a:bodyPr wrap="none" rtlCol="0">
              <a:spAutoFit/>
            </a:bodyPr>
            <a:lstStyle/>
            <a:p>
              <a:pPr>
                <a:spcAft>
                  <a:spcPts val="0"/>
                </a:spcAft>
              </a:pPr>
              <a:r>
                <a:rPr lang="en-US" sz="600" kern="12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514/UDP</a:t>
              </a:r>
              <a:endParaRPr lang="pt-BR" sz="1200">
                <a:effectLst/>
                <a:latin typeface="Times New Roman" panose="02020603050405020304" pitchFamily="18" charset="0"/>
                <a:ea typeface="Times New Roman" panose="02020603050405020304" pitchFamily="18" charset="0"/>
              </a:endParaRPr>
            </a:p>
          </p:txBody>
        </p:sp>
        <p:sp>
          <p:nvSpPr>
            <p:cNvPr id="30" name="TextBox 38"/>
            <p:cNvSpPr txBox="1"/>
            <p:nvPr/>
          </p:nvSpPr>
          <p:spPr>
            <a:xfrm>
              <a:off x="803887" y="913573"/>
              <a:ext cx="776680" cy="306167"/>
            </a:xfrm>
            <a:prstGeom prst="rect">
              <a:avLst/>
            </a:prstGeom>
            <a:noFill/>
          </p:spPr>
          <p:txBody>
            <a:bodyPr wrap="none" rtlCol="0">
              <a:spAutoFit/>
            </a:bodyPr>
            <a:lstStyle/>
            <a:p>
              <a:pPr>
                <a:spcAft>
                  <a:spcPts val="0"/>
                </a:spcAft>
              </a:pPr>
              <a:r>
                <a:rPr lang="en-US" sz="600" kern="1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514/UDP</a:t>
              </a:r>
              <a:endParaRPr lang="pt-BR" sz="1200" dirty="0">
                <a:effectLst/>
                <a:latin typeface="Times New Roman" panose="02020603050405020304" pitchFamily="18" charset="0"/>
                <a:ea typeface="Times New Roman" panose="02020603050405020304" pitchFamily="18" charset="0"/>
              </a:endParaRPr>
            </a:p>
          </p:txBody>
        </p:sp>
        <p:cxnSp>
          <p:nvCxnSpPr>
            <p:cNvPr id="31" name="Straight Arrow Connector 30"/>
            <p:cNvCxnSpPr>
              <a:stCxn id="13" idx="3"/>
              <a:endCxn id="8" idx="4"/>
            </p:cNvCxnSpPr>
            <p:nvPr/>
          </p:nvCxnSpPr>
          <p:spPr>
            <a:xfrm flipV="1">
              <a:off x="1824037" y="2373384"/>
              <a:ext cx="4277" cy="552945"/>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2" name="TextBox 42"/>
            <p:cNvSpPr txBox="1"/>
            <p:nvPr/>
          </p:nvSpPr>
          <p:spPr>
            <a:xfrm>
              <a:off x="1139521" y="2541698"/>
              <a:ext cx="463549" cy="184150"/>
            </a:xfrm>
            <a:prstGeom prst="rect">
              <a:avLst/>
            </a:prstGeom>
            <a:noFill/>
          </p:spPr>
          <p:txBody>
            <a:bodyPr wrap="none" rtlCol="0">
              <a:spAutoFit/>
            </a:bodyPr>
            <a:lstStyle/>
            <a:p>
              <a:pPr>
                <a:spcAft>
                  <a:spcPts val="0"/>
                </a:spcAft>
              </a:pPr>
              <a:r>
                <a:rPr lang="en-US" sz="600" kern="1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514/UDP</a:t>
              </a:r>
              <a:endParaRPr lang="pt-BR" sz="1200" dirty="0">
                <a:effectLst/>
                <a:latin typeface="Times New Roman" panose="02020603050405020304" pitchFamily="18" charset="0"/>
                <a:ea typeface="Times New Roman" panose="02020603050405020304" pitchFamily="18" charset="0"/>
              </a:endParaRPr>
            </a:p>
          </p:txBody>
        </p:sp>
      </p:grpSp>
    </p:spTree>
    <p:extLst>
      <p:ext uri="{BB962C8B-B14F-4D97-AF65-F5344CB8AC3E}">
        <p14:creationId xmlns:p14="http://schemas.microsoft.com/office/powerpoint/2010/main" val="13476034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7"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Objetivo</a:t>
            </a:r>
            <a:endParaRPr lang="pt-BR" sz="2700" dirty="0">
              <a:solidFill>
                <a:schemeClr val="tx1">
                  <a:lumMod val="65000"/>
                  <a:lumOff val="35000"/>
                </a:schemeClr>
              </a:solidFill>
              <a:latin typeface="+mn-lt"/>
            </a:endParaRPr>
          </a:p>
        </p:txBody>
      </p:sp>
      <p:sp>
        <p:nvSpPr>
          <p:cNvPr id="8" name="Subtitle 2"/>
          <p:cNvSpPr txBox="1">
            <a:spLocks/>
          </p:cNvSpPr>
          <p:nvPr/>
        </p:nvSpPr>
        <p:spPr>
          <a:xfrm>
            <a:off x="2028945" y="3210334"/>
            <a:ext cx="4631500" cy="385811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10000"/>
              </a:lnSpc>
            </a:pPr>
            <a:r>
              <a:rPr lang="pt-BR" sz="1800" b="1" dirty="0" smtClean="0">
                <a:solidFill>
                  <a:schemeClr val="tx1">
                    <a:lumMod val="50000"/>
                    <a:lumOff val="50000"/>
                  </a:schemeClr>
                </a:solidFill>
              </a:rPr>
              <a:t>Análise de Performance</a:t>
            </a:r>
            <a:endParaRPr lang="pt-BR" sz="1800" dirty="0" smtClean="0">
              <a:solidFill>
                <a:schemeClr val="tx1">
                  <a:lumMod val="50000"/>
                  <a:lumOff val="50000"/>
                </a:schemeClr>
              </a:solidFill>
            </a:endParaRPr>
          </a:p>
          <a:p>
            <a:pPr marL="285750" indent="-285750" algn="l">
              <a:lnSpc>
                <a:spcPct val="110000"/>
              </a:lnSpc>
              <a:buFont typeface="Arial" panose="020B0604020202020204" pitchFamily="34" charset="0"/>
              <a:buChar char="•"/>
            </a:pPr>
            <a:r>
              <a:rPr lang="pt-BR" sz="1400" dirty="0" smtClean="0">
                <a:solidFill>
                  <a:schemeClr val="bg2">
                    <a:lumMod val="50000"/>
                  </a:schemeClr>
                </a:solidFill>
              </a:rPr>
              <a:t>Avaliar </a:t>
            </a:r>
            <a:r>
              <a:rPr lang="pt-BR" sz="1400" dirty="0">
                <a:solidFill>
                  <a:schemeClr val="bg2">
                    <a:lumMod val="50000"/>
                  </a:schemeClr>
                </a:solidFill>
              </a:rPr>
              <a:t>os eventos de espera de cada recurso do servidor </a:t>
            </a:r>
            <a:r>
              <a:rPr lang="pt-BR" sz="1400" dirty="0" smtClean="0">
                <a:solidFill>
                  <a:schemeClr val="bg2">
                    <a:lumMod val="50000"/>
                  </a:schemeClr>
                </a:solidFill>
              </a:rPr>
              <a:t>em um determinado </a:t>
            </a:r>
            <a:r>
              <a:rPr lang="pt-BR" sz="1400" dirty="0">
                <a:solidFill>
                  <a:schemeClr val="bg2">
                    <a:lumMod val="50000"/>
                  </a:schemeClr>
                </a:solidFill>
              </a:rPr>
              <a:t>intervalo de </a:t>
            </a:r>
            <a:r>
              <a:rPr lang="pt-BR" sz="1400" dirty="0" smtClean="0">
                <a:solidFill>
                  <a:schemeClr val="bg2">
                    <a:lumMod val="50000"/>
                  </a:schemeClr>
                </a:solidFill>
              </a:rPr>
              <a:t>tempo;</a:t>
            </a:r>
            <a:endParaRPr lang="pt-BR" sz="1400" dirty="0">
              <a:solidFill>
                <a:schemeClr val="bg2">
                  <a:lumMod val="50000"/>
                </a:schemeClr>
              </a:solidFill>
            </a:endParaRPr>
          </a:p>
          <a:p>
            <a:pPr marL="285750" indent="-285750" algn="l">
              <a:lnSpc>
                <a:spcPct val="110000"/>
              </a:lnSpc>
              <a:buFont typeface="Arial" panose="020B0604020202020204" pitchFamily="34" charset="0"/>
              <a:buChar char="•"/>
            </a:pPr>
            <a:r>
              <a:rPr lang="pt-BR" sz="1400" dirty="0" smtClean="0">
                <a:solidFill>
                  <a:schemeClr val="bg2">
                    <a:lumMod val="50000"/>
                  </a:schemeClr>
                </a:solidFill>
              </a:rPr>
              <a:t>Avaliar </a:t>
            </a:r>
            <a:r>
              <a:rPr lang="pt-BR" sz="1400" dirty="0">
                <a:solidFill>
                  <a:schemeClr val="bg2">
                    <a:lumMod val="50000"/>
                  </a:schemeClr>
                </a:solidFill>
              </a:rPr>
              <a:t>o tempo consumido por </a:t>
            </a:r>
            <a:r>
              <a:rPr lang="pt-BR" sz="1400" dirty="0" smtClean="0">
                <a:solidFill>
                  <a:schemeClr val="bg2">
                    <a:lumMod val="50000"/>
                  </a:schemeClr>
                </a:solidFill>
              </a:rPr>
              <a:t>queries </a:t>
            </a:r>
            <a:r>
              <a:rPr lang="pt-BR" sz="1400" dirty="0">
                <a:solidFill>
                  <a:schemeClr val="bg2">
                    <a:lumMod val="50000"/>
                  </a:schemeClr>
                </a:solidFill>
              </a:rPr>
              <a:t>em cada tipo de recurso do servidor;</a:t>
            </a:r>
          </a:p>
          <a:p>
            <a:pPr marL="285750" indent="-285750" algn="l">
              <a:lnSpc>
                <a:spcPct val="110000"/>
              </a:lnSpc>
              <a:buFont typeface="Arial" panose="020B0604020202020204" pitchFamily="34" charset="0"/>
              <a:buChar char="•"/>
            </a:pPr>
            <a:r>
              <a:rPr lang="pt-BR" sz="1400" dirty="0" smtClean="0">
                <a:solidFill>
                  <a:schemeClr val="bg2">
                    <a:lumMod val="50000"/>
                  </a:schemeClr>
                </a:solidFill>
              </a:rPr>
              <a:t>Utiliza </a:t>
            </a:r>
            <a:r>
              <a:rPr lang="pt-BR" sz="1400" dirty="0">
                <a:solidFill>
                  <a:schemeClr val="bg2">
                    <a:lumMod val="50000"/>
                  </a:schemeClr>
                </a:solidFill>
              </a:rPr>
              <a:t>uma </a:t>
            </a:r>
            <a:r>
              <a:rPr lang="pt-BR" sz="1400" dirty="0" smtClean="0">
                <a:solidFill>
                  <a:schemeClr val="bg2">
                    <a:lumMod val="50000"/>
                  </a:schemeClr>
                </a:solidFill>
              </a:rPr>
              <a:t>base de dados local, dentro </a:t>
            </a:r>
            <a:r>
              <a:rPr lang="pt-BR" sz="1400" dirty="0">
                <a:solidFill>
                  <a:schemeClr val="bg2">
                    <a:lumMod val="50000"/>
                  </a:schemeClr>
                </a:solidFill>
              </a:rPr>
              <a:t>do </a:t>
            </a:r>
            <a:r>
              <a:rPr lang="pt-BR" sz="1400" dirty="0" smtClean="0">
                <a:solidFill>
                  <a:schemeClr val="bg2">
                    <a:lumMod val="50000"/>
                  </a:schemeClr>
                </a:solidFill>
              </a:rPr>
              <a:t>cliente, </a:t>
            </a:r>
            <a:r>
              <a:rPr lang="pt-BR" sz="1400" dirty="0" smtClean="0">
                <a:solidFill>
                  <a:schemeClr val="bg2">
                    <a:lumMod val="50000"/>
                  </a:schemeClr>
                </a:solidFill>
              </a:rPr>
              <a:t>para </a:t>
            </a:r>
            <a:r>
              <a:rPr lang="pt-BR" sz="1400" dirty="0" smtClean="0">
                <a:solidFill>
                  <a:schemeClr val="bg2">
                    <a:lumMod val="50000"/>
                  </a:schemeClr>
                </a:solidFill>
              </a:rPr>
              <a:t>armazenamento de informações detalhadas;</a:t>
            </a:r>
            <a:endParaRPr lang="pt-BR" sz="1400" dirty="0" smtClean="0">
              <a:solidFill>
                <a:schemeClr val="bg2">
                  <a:lumMod val="50000"/>
                </a:schemeClr>
              </a:solidFill>
            </a:endParaRPr>
          </a:p>
          <a:p>
            <a:pPr marL="285750" indent="-285750" algn="l">
              <a:lnSpc>
                <a:spcPct val="110000"/>
              </a:lnSpc>
              <a:buFont typeface="Arial" panose="020B0604020202020204" pitchFamily="34" charset="0"/>
              <a:buChar char="•"/>
            </a:pPr>
            <a:r>
              <a:rPr lang="pt-BR" sz="1400" dirty="0" smtClean="0">
                <a:solidFill>
                  <a:schemeClr val="bg2">
                    <a:lumMod val="50000"/>
                  </a:schemeClr>
                </a:solidFill>
              </a:rPr>
              <a:t>Visualização priorizada </a:t>
            </a:r>
            <a:r>
              <a:rPr lang="pt-BR" sz="1400" dirty="0">
                <a:solidFill>
                  <a:schemeClr val="bg2">
                    <a:lumMod val="50000"/>
                  </a:schemeClr>
                </a:solidFill>
              </a:rPr>
              <a:t>por instância afetada;</a:t>
            </a:r>
          </a:p>
          <a:p>
            <a:pPr marL="285750" indent="-285750" algn="l">
              <a:lnSpc>
                <a:spcPct val="110000"/>
              </a:lnSpc>
              <a:buFont typeface="Arial" panose="020B0604020202020204" pitchFamily="34" charset="0"/>
              <a:buChar char="•"/>
            </a:pPr>
            <a:r>
              <a:rPr lang="pt-BR" sz="1400" dirty="0">
                <a:solidFill>
                  <a:schemeClr val="bg2">
                    <a:lumMod val="50000"/>
                  </a:schemeClr>
                </a:solidFill>
              </a:rPr>
              <a:t>Gerenciamento de atividades (comunicação entre analistas);</a:t>
            </a:r>
          </a:p>
          <a:p>
            <a:pPr marL="285750" indent="-285750" algn="l">
              <a:lnSpc>
                <a:spcPct val="110000"/>
              </a:lnSpc>
              <a:buFont typeface="Arial" panose="020B0604020202020204" pitchFamily="34" charset="0"/>
              <a:buChar char="•"/>
            </a:pPr>
            <a:r>
              <a:rPr lang="pt-BR" sz="1400" dirty="0">
                <a:solidFill>
                  <a:schemeClr val="bg2">
                    <a:lumMod val="50000"/>
                  </a:schemeClr>
                </a:solidFill>
              </a:rPr>
              <a:t>Filtro por cliente, tipo de ambiente (QA ou PROD);</a:t>
            </a:r>
          </a:p>
          <a:p>
            <a:pPr marL="285750" indent="-285750" algn="l">
              <a:lnSpc>
                <a:spcPct val="110000"/>
              </a:lnSpc>
              <a:buFont typeface="Arial" panose="020B0604020202020204" pitchFamily="34" charset="0"/>
              <a:buChar char="•"/>
            </a:pPr>
            <a:endParaRPr lang="pt-BR" sz="1600" dirty="0">
              <a:solidFill>
                <a:schemeClr val="bg2">
                  <a:lumMod val="50000"/>
                </a:schemeClr>
              </a:solidFill>
            </a:endParaRPr>
          </a:p>
        </p:txBody>
      </p:sp>
      <p:sp>
        <p:nvSpPr>
          <p:cNvPr id="10" name="Subtitle 2"/>
          <p:cNvSpPr txBox="1">
            <a:spLocks/>
          </p:cNvSpPr>
          <p:nvPr/>
        </p:nvSpPr>
        <p:spPr>
          <a:xfrm>
            <a:off x="6905745" y="3198145"/>
            <a:ext cx="4631500" cy="387290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10000"/>
              </a:lnSpc>
            </a:pPr>
            <a:r>
              <a:rPr lang="pt-BR" sz="1800" b="1" dirty="0" smtClean="0">
                <a:solidFill>
                  <a:schemeClr val="tx1">
                    <a:lumMod val="50000"/>
                    <a:lumOff val="50000"/>
                  </a:schemeClr>
                </a:solidFill>
              </a:rPr>
              <a:t>Análise de Capacidade</a:t>
            </a:r>
            <a:endParaRPr lang="pt-BR" sz="1800" dirty="0" smtClean="0">
              <a:solidFill>
                <a:schemeClr val="tx1">
                  <a:lumMod val="50000"/>
                  <a:lumOff val="50000"/>
                </a:schemeClr>
              </a:solidFill>
            </a:endParaRPr>
          </a:p>
          <a:p>
            <a:pPr marL="285750" indent="-285750" algn="l">
              <a:lnSpc>
                <a:spcPct val="110000"/>
              </a:lnSpc>
              <a:buFont typeface="Arial" panose="020B0604020202020204" pitchFamily="34" charset="0"/>
              <a:buChar char="•"/>
            </a:pPr>
            <a:r>
              <a:rPr lang="pt-BR" sz="1400" dirty="0" smtClean="0">
                <a:solidFill>
                  <a:schemeClr val="bg2">
                    <a:lumMod val="50000"/>
                  </a:schemeClr>
                </a:solidFill>
              </a:rPr>
              <a:t>Coleta </a:t>
            </a:r>
            <a:r>
              <a:rPr lang="pt-BR" sz="1400" dirty="0">
                <a:solidFill>
                  <a:schemeClr val="bg2">
                    <a:lumMod val="50000"/>
                  </a:schemeClr>
                </a:solidFill>
              </a:rPr>
              <a:t>dos dados (disk </a:t>
            </a:r>
            <a:r>
              <a:rPr lang="pt-BR" sz="1400" dirty="0" err="1">
                <a:solidFill>
                  <a:schemeClr val="bg2">
                    <a:lumMod val="50000"/>
                  </a:schemeClr>
                </a:solidFill>
              </a:rPr>
              <a:t>group</a:t>
            </a:r>
            <a:r>
              <a:rPr lang="pt-BR" sz="1400" dirty="0">
                <a:solidFill>
                  <a:schemeClr val="bg2">
                    <a:lumMod val="50000"/>
                  </a:schemeClr>
                </a:solidFill>
              </a:rPr>
              <a:t> e </a:t>
            </a:r>
            <a:r>
              <a:rPr lang="pt-BR" sz="1400" dirty="0" err="1">
                <a:solidFill>
                  <a:schemeClr val="bg2">
                    <a:lumMod val="50000"/>
                  </a:schemeClr>
                </a:solidFill>
              </a:rPr>
              <a:t>table</a:t>
            </a:r>
            <a:r>
              <a:rPr lang="pt-BR" sz="1400" dirty="0">
                <a:solidFill>
                  <a:schemeClr val="bg2">
                    <a:lumMod val="50000"/>
                  </a:schemeClr>
                </a:solidFill>
              </a:rPr>
              <a:t> </a:t>
            </a:r>
            <a:r>
              <a:rPr lang="pt-BR" sz="1400" dirty="0" err="1">
                <a:solidFill>
                  <a:schemeClr val="bg2">
                    <a:lumMod val="50000"/>
                  </a:schemeClr>
                </a:solidFill>
              </a:rPr>
              <a:t>spaces</a:t>
            </a:r>
            <a:r>
              <a:rPr lang="pt-BR" sz="1400" dirty="0" smtClean="0">
                <a:solidFill>
                  <a:schemeClr val="bg2">
                    <a:lumMod val="50000"/>
                  </a:schemeClr>
                </a:solidFill>
              </a:rPr>
              <a:t>);</a:t>
            </a:r>
          </a:p>
          <a:p>
            <a:pPr marL="285750" indent="-285750" algn="l">
              <a:lnSpc>
                <a:spcPct val="110000"/>
              </a:lnSpc>
              <a:buFont typeface="Arial" panose="020B0604020202020204" pitchFamily="34" charset="0"/>
              <a:buChar char="•"/>
            </a:pPr>
            <a:r>
              <a:rPr lang="pt-BR" sz="1400" dirty="0" smtClean="0">
                <a:solidFill>
                  <a:schemeClr val="bg2">
                    <a:lumMod val="50000"/>
                  </a:schemeClr>
                </a:solidFill>
              </a:rPr>
              <a:t>Exportação de informações para relatórios;</a:t>
            </a:r>
            <a:endParaRPr lang="pt-BR" sz="1400" dirty="0">
              <a:solidFill>
                <a:schemeClr val="bg2">
                  <a:lumMod val="50000"/>
                </a:schemeClr>
              </a:solidFill>
            </a:endParaRPr>
          </a:p>
        </p:txBody>
      </p:sp>
      <p:sp>
        <p:nvSpPr>
          <p:cNvPr id="9" name="Subtitle 2"/>
          <p:cNvSpPr txBox="1">
            <a:spLocks/>
          </p:cNvSpPr>
          <p:nvPr/>
        </p:nvSpPr>
        <p:spPr>
          <a:xfrm>
            <a:off x="2028945" y="1361661"/>
            <a:ext cx="9508300" cy="1679710"/>
          </a:xfrm>
          <a:prstGeom prst="rect">
            <a:avLst/>
          </a:prstGeom>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10000"/>
              </a:lnSpc>
            </a:pPr>
            <a:r>
              <a:rPr lang="pt-BR" sz="1800" b="1" dirty="0">
                <a:solidFill>
                  <a:schemeClr val="tx1">
                    <a:lumMod val="50000"/>
                    <a:lumOff val="50000"/>
                  </a:schemeClr>
                </a:solidFill>
              </a:rPr>
              <a:t>Oferecer </a:t>
            </a:r>
            <a:r>
              <a:rPr lang="pt-BR" sz="1800" b="1" dirty="0" smtClean="0">
                <a:solidFill>
                  <a:schemeClr val="tx1">
                    <a:lumMod val="50000"/>
                    <a:lumOff val="50000"/>
                  </a:schemeClr>
                </a:solidFill>
              </a:rPr>
              <a:t>um conjunto de ferramentas </a:t>
            </a:r>
            <a:r>
              <a:rPr lang="pt-BR" sz="1800" b="1" dirty="0">
                <a:solidFill>
                  <a:schemeClr val="tx1">
                    <a:lumMod val="50000"/>
                    <a:lumOff val="50000"/>
                  </a:schemeClr>
                </a:solidFill>
              </a:rPr>
              <a:t>de apoio </a:t>
            </a:r>
            <a:r>
              <a:rPr lang="pt-BR" sz="1800" b="1" dirty="0" smtClean="0">
                <a:solidFill>
                  <a:schemeClr val="tx1">
                    <a:lumMod val="50000"/>
                    <a:lumOff val="50000"/>
                  </a:schemeClr>
                </a:solidFill>
              </a:rPr>
              <a:t>à </a:t>
            </a:r>
            <a:r>
              <a:rPr lang="pt-BR" sz="1800" b="1" dirty="0" err="1">
                <a:solidFill>
                  <a:schemeClr val="tx1">
                    <a:lumMod val="50000"/>
                    <a:lumOff val="50000"/>
                  </a:schemeClr>
                </a:solidFill>
              </a:rPr>
              <a:t>proatividade</a:t>
            </a:r>
            <a:r>
              <a:rPr lang="pt-BR" sz="1800" b="1" dirty="0">
                <a:solidFill>
                  <a:schemeClr val="tx1">
                    <a:lumMod val="50000"/>
                    <a:lumOff val="50000"/>
                  </a:schemeClr>
                </a:solidFill>
              </a:rPr>
              <a:t> na administração de Banco de </a:t>
            </a:r>
            <a:r>
              <a:rPr lang="pt-BR" sz="1800" b="1" dirty="0" smtClean="0">
                <a:solidFill>
                  <a:schemeClr val="tx1">
                    <a:lumMod val="50000"/>
                    <a:lumOff val="50000"/>
                  </a:schemeClr>
                </a:solidFill>
              </a:rPr>
              <a:t>Dados.</a:t>
            </a:r>
          </a:p>
          <a:p>
            <a:pPr algn="l">
              <a:lnSpc>
                <a:spcPct val="110000"/>
              </a:lnSpc>
            </a:pPr>
            <a:r>
              <a:rPr lang="pt-BR" sz="1800" b="1" dirty="0" smtClean="0">
                <a:solidFill>
                  <a:schemeClr val="tx1">
                    <a:lumMod val="50000"/>
                    <a:lumOff val="50000"/>
                  </a:schemeClr>
                </a:solidFill>
              </a:rPr>
              <a:t>Baseado </a:t>
            </a:r>
            <a:r>
              <a:rPr lang="pt-BR" sz="1800" b="1" dirty="0">
                <a:solidFill>
                  <a:schemeClr val="tx1">
                    <a:lumMod val="50000"/>
                    <a:lumOff val="50000"/>
                  </a:schemeClr>
                </a:solidFill>
              </a:rPr>
              <a:t>em uma visão analítica gráfica e priorizada </a:t>
            </a:r>
            <a:r>
              <a:rPr lang="pt-BR" sz="1800" b="1" dirty="0" smtClean="0">
                <a:solidFill>
                  <a:schemeClr val="tx1">
                    <a:lumMod val="50000"/>
                    <a:lumOff val="50000"/>
                  </a:schemeClr>
                </a:solidFill>
              </a:rPr>
              <a:t>pelo </a:t>
            </a:r>
            <a:r>
              <a:rPr lang="pt-BR" sz="1800" b="1" dirty="0">
                <a:solidFill>
                  <a:schemeClr val="tx1">
                    <a:lumMod val="50000"/>
                    <a:lumOff val="50000"/>
                  </a:schemeClr>
                </a:solidFill>
              </a:rPr>
              <a:t>estado do </a:t>
            </a:r>
            <a:r>
              <a:rPr lang="pt-BR" sz="1800" b="1" dirty="0" smtClean="0">
                <a:solidFill>
                  <a:schemeClr val="tx1">
                    <a:lumMod val="50000"/>
                    <a:lumOff val="50000"/>
                  </a:schemeClr>
                </a:solidFill>
              </a:rPr>
              <a:t>banco (semelhante ao Oracle Grid), o “</a:t>
            </a:r>
            <a:r>
              <a:rPr lang="pt-BR" sz="1800" b="1" dirty="0" err="1" smtClean="0">
                <a:solidFill>
                  <a:schemeClr val="tx1">
                    <a:lumMod val="50000"/>
                    <a:lumOff val="50000"/>
                  </a:schemeClr>
                </a:solidFill>
              </a:rPr>
              <a:t>Dashboard</a:t>
            </a:r>
            <a:r>
              <a:rPr lang="pt-BR" sz="1800" b="1" dirty="0" smtClean="0">
                <a:solidFill>
                  <a:schemeClr val="tx1">
                    <a:lumMod val="50000"/>
                    <a:lumOff val="50000"/>
                  </a:schemeClr>
                </a:solidFill>
              </a:rPr>
              <a:t>” associado à ferramenta “DB Top </a:t>
            </a:r>
            <a:r>
              <a:rPr lang="pt-BR" sz="1800" b="1" dirty="0" err="1" smtClean="0">
                <a:solidFill>
                  <a:schemeClr val="tx1">
                    <a:lumMod val="50000"/>
                    <a:lumOff val="50000"/>
                  </a:schemeClr>
                </a:solidFill>
              </a:rPr>
              <a:t>Sessions</a:t>
            </a:r>
            <a:r>
              <a:rPr lang="pt-BR" sz="1800" b="1" dirty="0" smtClean="0">
                <a:solidFill>
                  <a:schemeClr val="tx1">
                    <a:lumMod val="50000"/>
                    <a:lumOff val="50000"/>
                  </a:schemeClr>
                </a:solidFill>
              </a:rPr>
              <a:t>” permite identificar quais queries estão </a:t>
            </a:r>
            <a:r>
              <a:rPr lang="pt-BR" sz="1800" b="1" dirty="0">
                <a:solidFill>
                  <a:schemeClr val="tx1">
                    <a:lumMod val="50000"/>
                    <a:lumOff val="50000"/>
                  </a:schemeClr>
                </a:solidFill>
              </a:rPr>
              <a:t>afetando uma determinada </a:t>
            </a:r>
            <a:r>
              <a:rPr lang="pt-BR" sz="1800" b="1" dirty="0" smtClean="0">
                <a:solidFill>
                  <a:schemeClr val="tx1">
                    <a:lumMod val="50000"/>
                    <a:lumOff val="50000"/>
                  </a:schemeClr>
                </a:solidFill>
              </a:rPr>
              <a:t>instância, apontando os principais recursos consumidos.</a:t>
            </a:r>
          </a:p>
          <a:p>
            <a:pPr algn="l">
              <a:lnSpc>
                <a:spcPct val="110000"/>
              </a:lnSpc>
            </a:pPr>
            <a:r>
              <a:rPr lang="pt-BR" sz="1800" b="1" dirty="0" smtClean="0">
                <a:solidFill>
                  <a:schemeClr val="tx1">
                    <a:lumMod val="50000"/>
                    <a:lumOff val="50000"/>
                  </a:schemeClr>
                </a:solidFill>
              </a:rPr>
              <a:t>Através de uma ferramenta de “</a:t>
            </a:r>
            <a:r>
              <a:rPr lang="pt-BR" sz="1800" b="1" dirty="0" err="1" smtClean="0">
                <a:solidFill>
                  <a:schemeClr val="tx1">
                    <a:lumMod val="50000"/>
                    <a:lumOff val="50000"/>
                  </a:schemeClr>
                </a:solidFill>
              </a:rPr>
              <a:t>Capacity</a:t>
            </a:r>
            <a:r>
              <a:rPr lang="pt-BR" sz="1800" b="1" dirty="0" smtClean="0">
                <a:solidFill>
                  <a:schemeClr val="tx1">
                    <a:lumMod val="50000"/>
                    <a:lumOff val="50000"/>
                  </a:schemeClr>
                </a:solidFill>
              </a:rPr>
              <a:t>”, podemos analisar a </a:t>
            </a:r>
            <a:r>
              <a:rPr lang="pt-BR" sz="1800" b="1" dirty="0">
                <a:solidFill>
                  <a:schemeClr val="tx1">
                    <a:lumMod val="50000"/>
                    <a:lumOff val="50000"/>
                  </a:schemeClr>
                </a:solidFill>
              </a:rPr>
              <a:t>utilização e planejamento de </a:t>
            </a:r>
            <a:r>
              <a:rPr lang="pt-BR" sz="1800" b="1" dirty="0" smtClean="0">
                <a:solidFill>
                  <a:schemeClr val="tx1">
                    <a:lumMod val="50000"/>
                    <a:lumOff val="50000"/>
                  </a:schemeClr>
                </a:solidFill>
              </a:rPr>
              <a:t>uso de </a:t>
            </a:r>
            <a:r>
              <a:rPr lang="pt-BR" sz="1800" b="1" dirty="0" err="1" smtClean="0">
                <a:solidFill>
                  <a:schemeClr val="tx1">
                    <a:lumMod val="50000"/>
                    <a:lumOff val="50000"/>
                  </a:schemeClr>
                </a:solidFill>
              </a:rPr>
              <a:t>tablespace</a:t>
            </a:r>
            <a:r>
              <a:rPr lang="pt-BR" sz="1800" b="1" dirty="0" smtClean="0">
                <a:solidFill>
                  <a:schemeClr val="tx1">
                    <a:lumMod val="50000"/>
                    <a:lumOff val="50000"/>
                  </a:schemeClr>
                </a:solidFill>
              </a:rPr>
              <a:t> </a:t>
            </a:r>
            <a:r>
              <a:rPr lang="pt-BR" sz="1800" b="1" dirty="0">
                <a:solidFill>
                  <a:schemeClr val="tx1">
                    <a:lumMod val="50000"/>
                    <a:lumOff val="50000"/>
                  </a:schemeClr>
                </a:solidFill>
              </a:rPr>
              <a:t>e disco.</a:t>
            </a:r>
            <a:endParaRPr lang="pt-BR" sz="1800" dirty="0" smtClean="0">
              <a:solidFill>
                <a:schemeClr val="tx1">
                  <a:lumMod val="50000"/>
                  <a:lumOff val="50000"/>
                </a:schemeClr>
              </a:solidFill>
            </a:endParaRPr>
          </a:p>
        </p:txBody>
      </p:sp>
    </p:spTree>
    <p:extLst>
      <p:ext uri="{BB962C8B-B14F-4D97-AF65-F5344CB8AC3E}">
        <p14:creationId xmlns:p14="http://schemas.microsoft.com/office/powerpoint/2010/main" val="37051130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Infraestrutura – Black </a:t>
            </a:r>
            <a:r>
              <a:rPr lang="pt-BR" sz="5300" b="1" dirty="0" err="1" smtClean="0">
                <a:solidFill>
                  <a:schemeClr val="tx1">
                    <a:lumMod val="65000"/>
                    <a:lumOff val="35000"/>
                  </a:schemeClr>
                </a:solidFill>
                <a:latin typeface="+mn-lt"/>
              </a:rPr>
              <a:t>Hole</a:t>
            </a:r>
            <a:endParaRPr lang="pt-BR" sz="2700" dirty="0">
              <a:solidFill>
                <a:schemeClr val="tx1">
                  <a:lumMod val="65000"/>
                  <a:lumOff val="35000"/>
                </a:schemeClr>
              </a:solidFill>
              <a:latin typeface="+mn-lt"/>
            </a:endParaRPr>
          </a:p>
        </p:txBody>
      </p:sp>
      <p:pic>
        <p:nvPicPr>
          <p:cNvPr id="4" name="Picture 3"/>
          <p:cNvPicPr>
            <a:picLocks noChangeAspect="1"/>
          </p:cNvPicPr>
          <p:nvPr/>
        </p:nvPicPr>
        <p:blipFill>
          <a:blip r:embed="rId3"/>
          <a:stretch>
            <a:fillRect/>
          </a:stretch>
        </p:blipFill>
        <p:spPr>
          <a:xfrm>
            <a:off x="2528801" y="1111090"/>
            <a:ext cx="7710866" cy="5335548"/>
          </a:xfrm>
          <a:prstGeom prst="rect">
            <a:avLst/>
          </a:prstGeom>
        </p:spPr>
      </p:pic>
      <p:sp>
        <p:nvSpPr>
          <p:cNvPr id="5" name="Rectangle 4"/>
          <p:cNvSpPr/>
          <p:nvPr/>
        </p:nvSpPr>
        <p:spPr>
          <a:xfrm>
            <a:off x="1924877" y="6405626"/>
            <a:ext cx="8918714" cy="369332"/>
          </a:xfrm>
          <a:prstGeom prst="rect">
            <a:avLst/>
          </a:prstGeom>
        </p:spPr>
        <p:txBody>
          <a:bodyPr wrap="square">
            <a:spAutoFit/>
          </a:bodyPr>
          <a:lstStyle/>
          <a:p>
            <a:r>
              <a:rPr lang="pt-BR" dirty="0">
                <a:hlinkClick r:id="rId4"/>
              </a:rPr>
              <a:t>https://confluence.intranet.uol.com.br/confluence/display/UIP/uoldiveo+-+</a:t>
            </a:r>
            <a:r>
              <a:rPr lang="pt-BR" dirty="0" smtClean="0">
                <a:hlinkClick r:id="rId4"/>
              </a:rPr>
              <a:t>Black+Hole+BD</a:t>
            </a:r>
            <a:endParaRPr lang="pt-BR" dirty="0" smtClean="0"/>
          </a:p>
        </p:txBody>
      </p:sp>
    </p:spTree>
    <p:extLst>
      <p:ext uri="{BB962C8B-B14F-4D97-AF65-F5344CB8AC3E}">
        <p14:creationId xmlns:p14="http://schemas.microsoft.com/office/powerpoint/2010/main" val="21705966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7"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err="1" smtClean="0">
                <a:solidFill>
                  <a:schemeClr val="tx1">
                    <a:lumMod val="65000"/>
                    <a:lumOff val="35000"/>
                  </a:schemeClr>
                </a:solidFill>
                <a:latin typeface="+mn-lt"/>
              </a:rPr>
              <a:t>Dashboard</a:t>
            </a:r>
            <a:endParaRPr lang="pt-BR" sz="2700" dirty="0">
              <a:solidFill>
                <a:schemeClr val="tx1">
                  <a:lumMod val="65000"/>
                  <a:lumOff val="35000"/>
                </a:schemeClr>
              </a:solidFill>
              <a:latin typeface="+mn-lt"/>
            </a:endParaRPr>
          </a:p>
        </p:txBody>
      </p:sp>
      <p:sp>
        <p:nvSpPr>
          <p:cNvPr id="9" name="Subtitle 2"/>
          <p:cNvSpPr txBox="1">
            <a:spLocks/>
          </p:cNvSpPr>
          <p:nvPr/>
        </p:nvSpPr>
        <p:spPr>
          <a:xfrm>
            <a:off x="2028945" y="1361660"/>
            <a:ext cx="9508300" cy="435243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10000"/>
              </a:lnSpc>
            </a:pPr>
            <a:r>
              <a:rPr lang="pt-BR" sz="1800" dirty="0" smtClean="0">
                <a:solidFill>
                  <a:schemeClr val="tx1">
                    <a:lumMod val="50000"/>
                    <a:lumOff val="50000"/>
                  </a:schemeClr>
                </a:solidFill>
              </a:rPr>
              <a:t>A </a:t>
            </a:r>
            <a:r>
              <a:rPr lang="pt-BR" sz="1800" dirty="0">
                <a:solidFill>
                  <a:schemeClr val="tx1">
                    <a:lumMod val="50000"/>
                    <a:lumOff val="50000"/>
                  </a:schemeClr>
                </a:solidFill>
              </a:rPr>
              <a:t>ferramenta chamada "</a:t>
            </a:r>
            <a:r>
              <a:rPr lang="pt-BR" sz="1800" dirty="0" err="1">
                <a:solidFill>
                  <a:schemeClr val="tx1">
                    <a:lumMod val="50000"/>
                    <a:lumOff val="50000"/>
                  </a:schemeClr>
                </a:solidFill>
              </a:rPr>
              <a:t>Dashboard</a:t>
            </a:r>
            <a:r>
              <a:rPr lang="pt-BR" sz="1800" dirty="0">
                <a:solidFill>
                  <a:schemeClr val="tx1">
                    <a:lumMod val="50000"/>
                    <a:lumOff val="50000"/>
                  </a:schemeClr>
                </a:solidFill>
              </a:rPr>
              <a:t>" tem por objetivo apresentar, de forma intuitiva, o consumo de recursos em cada instância de banco, agrupado por tipo de recurso consumido.</a:t>
            </a:r>
          </a:p>
          <a:p>
            <a:pPr algn="l">
              <a:lnSpc>
                <a:spcPct val="110000"/>
              </a:lnSpc>
            </a:pPr>
            <a:r>
              <a:rPr lang="pt-BR" sz="1800" dirty="0" smtClean="0">
                <a:solidFill>
                  <a:schemeClr val="tx1">
                    <a:lumMod val="50000"/>
                    <a:lumOff val="50000"/>
                  </a:schemeClr>
                </a:solidFill>
              </a:rPr>
              <a:t>Uma </a:t>
            </a:r>
            <a:r>
              <a:rPr lang="pt-BR" sz="1800" dirty="0">
                <a:solidFill>
                  <a:schemeClr val="tx1">
                    <a:lumMod val="50000"/>
                    <a:lumOff val="50000"/>
                  </a:schemeClr>
                </a:solidFill>
              </a:rPr>
              <a:t>vez que o número de instâncias é muito grande, podemos aplicar filtros para restringir o que é exibido para o usuário, como por exemplo exibir as instâncias de um determinado cliente ou servidor, ou simplesmente deixar que o sistema selecione, de forma automática, as instâncias que estão apresentando a maior carga de processamento </a:t>
            </a:r>
            <a:r>
              <a:rPr lang="pt-BR" sz="1800" dirty="0" smtClean="0">
                <a:solidFill>
                  <a:schemeClr val="tx1">
                    <a:lumMod val="50000"/>
                    <a:lumOff val="50000"/>
                  </a:schemeClr>
                </a:solidFill>
              </a:rPr>
              <a:t>(top </a:t>
            </a:r>
            <a:r>
              <a:rPr lang="pt-BR" sz="1800" dirty="0" err="1">
                <a:solidFill>
                  <a:schemeClr val="tx1">
                    <a:lumMod val="50000"/>
                    <a:lumOff val="50000"/>
                  </a:schemeClr>
                </a:solidFill>
              </a:rPr>
              <a:t>instances</a:t>
            </a:r>
            <a:r>
              <a:rPr lang="pt-BR" sz="1800" dirty="0">
                <a:solidFill>
                  <a:schemeClr val="tx1">
                    <a:lumMod val="50000"/>
                    <a:lumOff val="50000"/>
                  </a:schemeClr>
                </a:solidFill>
              </a:rPr>
              <a:t>), no momento.</a:t>
            </a:r>
          </a:p>
          <a:p>
            <a:pPr algn="l">
              <a:lnSpc>
                <a:spcPct val="110000"/>
              </a:lnSpc>
            </a:pPr>
            <a:r>
              <a:rPr lang="pt-BR" sz="1800" dirty="0" smtClean="0">
                <a:solidFill>
                  <a:schemeClr val="tx1">
                    <a:lumMod val="50000"/>
                    <a:lumOff val="50000"/>
                  </a:schemeClr>
                </a:solidFill>
              </a:rPr>
              <a:t>Além </a:t>
            </a:r>
            <a:r>
              <a:rPr lang="pt-BR" sz="1800" dirty="0">
                <a:solidFill>
                  <a:schemeClr val="tx1">
                    <a:lumMod val="50000"/>
                    <a:lumOff val="50000"/>
                  </a:schemeClr>
                </a:solidFill>
              </a:rPr>
              <a:t>disso, a ferramenta nos dá acesso aos principais parâmetros de configuração da instância e permite, de forma simplificada, que acessemos ferramentas como </a:t>
            </a:r>
            <a:r>
              <a:rPr lang="pt-BR" sz="1800" dirty="0" err="1">
                <a:solidFill>
                  <a:schemeClr val="tx1">
                    <a:lumMod val="50000"/>
                    <a:lumOff val="50000"/>
                  </a:schemeClr>
                </a:solidFill>
              </a:rPr>
              <a:t>WinSCP</a:t>
            </a:r>
            <a:r>
              <a:rPr lang="pt-BR" sz="1800" dirty="0">
                <a:solidFill>
                  <a:schemeClr val="tx1">
                    <a:lumMod val="50000"/>
                    <a:lumOff val="50000"/>
                  </a:schemeClr>
                </a:solidFill>
              </a:rPr>
              <a:t>, </a:t>
            </a:r>
            <a:r>
              <a:rPr lang="pt-BR" sz="1800" dirty="0" err="1">
                <a:solidFill>
                  <a:schemeClr val="tx1">
                    <a:lumMod val="50000"/>
                    <a:lumOff val="50000"/>
                  </a:schemeClr>
                </a:solidFill>
              </a:rPr>
              <a:t>Putty</a:t>
            </a:r>
            <a:r>
              <a:rPr lang="pt-BR" sz="1800" dirty="0">
                <a:solidFill>
                  <a:schemeClr val="tx1">
                    <a:lumMod val="50000"/>
                    <a:lumOff val="50000"/>
                  </a:schemeClr>
                </a:solidFill>
              </a:rPr>
              <a:t>, SQL-Plus ou DB TOP </a:t>
            </a:r>
            <a:r>
              <a:rPr lang="pt-BR" sz="1800" dirty="0" err="1">
                <a:solidFill>
                  <a:schemeClr val="tx1">
                    <a:lumMod val="50000"/>
                    <a:lumOff val="50000"/>
                  </a:schemeClr>
                </a:solidFill>
              </a:rPr>
              <a:t>Sessions</a:t>
            </a:r>
            <a:r>
              <a:rPr lang="pt-BR" sz="1800" dirty="0">
                <a:solidFill>
                  <a:schemeClr val="tx1">
                    <a:lumMod val="50000"/>
                    <a:lumOff val="50000"/>
                  </a:schemeClr>
                </a:solidFill>
              </a:rPr>
              <a:t>, de forma a obter mais informações ou interagir com a instância do banco, na resolução de problemas</a:t>
            </a:r>
            <a:r>
              <a:rPr lang="pt-BR" sz="1800" dirty="0" smtClean="0">
                <a:solidFill>
                  <a:schemeClr val="tx1">
                    <a:lumMod val="50000"/>
                    <a:lumOff val="50000"/>
                  </a:schemeClr>
                </a:solidFill>
              </a:rPr>
              <a:t>.</a:t>
            </a:r>
            <a:endParaRPr lang="pt-BR" sz="1800" dirty="0">
              <a:solidFill>
                <a:schemeClr val="tx1">
                  <a:lumMod val="50000"/>
                  <a:lumOff val="50000"/>
                </a:schemeClr>
              </a:solidFill>
            </a:endParaRPr>
          </a:p>
        </p:txBody>
      </p:sp>
    </p:spTree>
    <p:extLst>
      <p:ext uri="{BB962C8B-B14F-4D97-AF65-F5344CB8AC3E}">
        <p14:creationId xmlns:p14="http://schemas.microsoft.com/office/powerpoint/2010/main" val="10147354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7"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Comparação - Oracle Grid</a:t>
            </a:r>
            <a:endParaRPr lang="pt-BR" sz="2700" dirty="0">
              <a:solidFill>
                <a:schemeClr val="tx1">
                  <a:lumMod val="65000"/>
                  <a:lumOff val="35000"/>
                </a:schemeClr>
              </a:solidFill>
              <a:latin typeface="+mn-lt"/>
            </a:endParaRPr>
          </a:p>
        </p:txBody>
      </p:sp>
      <p:pic>
        <p:nvPicPr>
          <p:cNvPr id="3" name="Picture 2"/>
          <p:cNvPicPr>
            <a:picLocks noChangeAspect="1"/>
          </p:cNvPicPr>
          <p:nvPr/>
        </p:nvPicPr>
        <p:blipFill>
          <a:blip r:embed="rId4"/>
          <a:stretch>
            <a:fillRect/>
          </a:stretch>
        </p:blipFill>
        <p:spPr>
          <a:xfrm>
            <a:off x="2421998" y="1130968"/>
            <a:ext cx="7709245" cy="5084299"/>
          </a:xfrm>
          <a:prstGeom prst="rect">
            <a:avLst/>
          </a:prstGeom>
        </p:spPr>
      </p:pic>
    </p:spTree>
    <p:extLst>
      <p:ext uri="{BB962C8B-B14F-4D97-AF65-F5344CB8AC3E}">
        <p14:creationId xmlns:p14="http://schemas.microsoft.com/office/powerpoint/2010/main" val="32208194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7"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Comparação - </a:t>
            </a:r>
            <a:r>
              <a:rPr lang="pt-BR" sz="5300" b="1" dirty="0" err="1" smtClean="0">
                <a:solidFill>
                  <a:schemeClr val="tx1">
                    <a:lumMod val="65000"/>
                    <a:lumOff val="35000"/>
                  </a:schemeClr>
                </a:solidFill>
                <a:latin typeface="+mn-lt"/>
              </a:rPr>
              <a:t>Dashboard</a:t>
            </a:r>
            <a:endParaRPr lang="pt-BR" sz="2700" dirty="0">
              <a:solidFill>
                <a:schemeClr val="tx1">
                  <a:lumMod val="65000"/>
                  <a:lumOff val="35000"/>
                </a:schemeClr>
              </a:solidFill>
              <a:latin typeface="+mn-lt"/>
            </a:endParaRPr>
          </a:p>
        </p:txBody>
      </p:sp>
      <p:pic>
        <p:nvPicPr>
          <p:cNvPr id="3074" name="Picture 1" descr="image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8531" y="1247153"/>
            <a:ext cx="6672103" cy="432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83921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7"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Comparação - </a:t>
            </a:r>
            <a:r>
              <a:rPr lang="pt-BR" sz="5300" b="1" dirty="0" err="1" smtClean="0">
                <a:solidFill>
                  <a:schemeClr val="tx1">
                    <a:lumMod val="65000"/>
                    <a:lumOff val="35000"/>
                  </a:schemeClr>
                </a:solidFill>
                <a:latin typeface="+mn-lt"/>
              </a:rPr>
              <a:t>Dashboard</a:t>
            </a:r>
            <a:endParaRPr lang="pt-BR" sz="2700" dirty="0">
              <a:solidFill>
                <a:schemeClr val="tx1">
                  <a:lumMod val="65000"/>
                  <a:lumOff val="35000"/>
                </a:schemeClr>
              </a:solidFill>
              <a:latin typeface="+mn-lt"/>
            </a:endParaRPr>
          </a:p>
        </p:txBody>
      </p:sp>
      <p:pic>
        <p:nvPicPr>
          <p:cNvPr id="3074" name="Picture 1" descr="image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8531" y="1247153"/>
            <a:ext cx="6672103" cy="432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5"/>
          <a:stretch>
            <a:fillRect/>
          </a:stretch>
        </p:blipFill>
        <p:spPr>
          <a:xfrm>
            <a:off x="4064299" y="2419075"/>
            <a:ext cx="7658514" cy="3998082"/>
          </a:xfrm>
          <a:prstGeom prst="rect">
            <a:avLst/>
          </a:prstGeom>
        </p:spPr>
      </p:pic>
    </p:spTree>
    <p:extLst>
      <p:ext uri="{BB962C8B-B14F-4D97-AF65-F5344CB8AC3E}">
        <p14:creationId xmlns:p14="http://schemas.microsoft.com/office/powerpoint/2010/main" val="2865182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7"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err="1" smtClean="0">
                <a:solidFill>
                  <a:schemeClr val="tx1">
                    <a:lumMod val="65000"/>
                    <a:lumOff val="35000"/>
                  </a:schemeClr>
                </a:solidFill>
                <a:latin typeface="+mn-lt"/>
              </a:rPr>
              <a:t>Capacity</a:t>
            </a:r>
            <a:endParaRPr lang="pt-BR" sz="2700" dirty="0">
              <a:solidFill>
                <a:schemeClr val="tx1">
                  <a:lumMod val="65000"/>
                  <a:lumOff val="35000"/>
                </a:schemeClr>
              </a:solidFill>
              <a:latin typeface="+mn-lt"/>
            </a:endParaRPr>
          </a:p>
        </p:txBody>
      </p:sp>
      <p:sp>
        <p:nvSpPr>
          <p:cNvPr id="9" name="Subtitle 2"/>
          <p:cNvSpPr txBox="1">
            <a:spLocks/>
          </p:cNvSpPr>
          <p:nvPr/>
        </p:nvSpPr>
        <p:spPr>
          <a:xfrm>
            <a:off x="2028945" y="1361660"/>
            <a:ext cx="9508300" cy="435243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10000"/>
              </a:lnSpc>
            </a:pPr>
            <a:r>
              <a:rPr lang="pt-BR" sz="1800" dirty="0" smtClean="0">
                <a:solidFill>
                  <a:schemeClr val="tx1">
                    <a:lumMod val="50000"/>
                    <a:lumOff val="50000"/>
                  </a:schemeClr>
                </a:solidFill>
              </a:rPr>
              <a:t>A </a:t>
            </a:r>
            <a:r>
              <a:rPr lang="pt-BR" sz="1800" dirty="0">
                <a:solidFill>
                  <a:schemeClr val="tx1">
                    <a:lumMod val="50000"/>
                    <a:lumOff val="50000"/>
                  </a:schemeClr>
                </a:solidFill>
              </a:rPr>
              <a:t>ferramenta chamada </a:t>
            </a:r>
            <a:r>
              <a:rPr lang="pt-BR" sz="1800" dirty="0" smtClean="0">
                <a:solidFill>
                  <a:schemeClr val="tx1">
                    <a:lumMod val="50000"/>
                    <a:lumOff val="50000"/>
                  </a:schemeClr>
                </a:solidFill>
              </a:rPr>
              <a:t>“</a:t>
            </a:r>
            <a:r>
              <a:rPr lang="pt-BR" sz="1800" dirty="0" err="1" smtClean="0">
                <a:solidFill>
                  <a:schemeClr val="tx1">
                    <a:lumMod val="50000"/>
                    <a:lumOff val="50000"/>
                  </a:schemeClr>
                </a:solidFill>
              </a:rPr>
              <a:t>Capacity</a:t>
            </a:r>
            <a:r>
              <a:rPr lang="pt-BR" sz="1800" dirty="0" smtClean="0">
                <a:solidFill>
                  <a:schemeClr val="tx1">
                    <a:lumMod val="50000"/>
                    <a:lumOff val="50000"/>
                  </a:schemeClr>
                </a:solidFill>
              </a:rPr>
              <a:t>" </a:t>
            </a:r>
            <a:r>
              <a:rPr lang="pt-BR" sz="1800" dirty="0">
                <a:solidFill>
                  <a:schemeClr val="tx1">
                    <a:lumMod val="50000"/>
                    <a:lumOff val="50000"/>
                  </a:schemeClr>
                </a:solidFill>
              </a:rPr>
              <a:t>tem por objetivo apresentar, de forma </a:t>
            </a:r>
            <a:r>
              <a:rPr lang="pt-BR" sz="1800" dirty="0" smtClean="0">
                <a:solidFill>
                  <a:schemeClr val="tx1">
                    <a:lumMod val="50000"/>
                    <a:lumOff val="50000"/>
                  </a:schemeClr>
                </a:solidFill>
              </a:rPr>
              <a:t>consolidada, recursos cujo consumo é progressivo, como </a:t>
            </a:r>
            <a:r>
              <a:rPr lang="pt-BR" sz="1800" dirty="0" err="1" smtClean="0">
                <a:solidFill>
                  <a:schemeClr val="tx1">
                    <a:lumMod val="50000"/>
                    <a:lumOff val="50000"/>
                  </a:schemeClr>
                </a:solidFill>
              </a:rPr>
              <a:t>tablespaces</a:t>
            </a:r>
            <a:r>
              <a:rPr lang="pt-BR" sz="1800" dirty="0" smtClean="0">
                <a:solidFill>
                  <a:schemeClr val="tx1">
                    <a:lumMod val="50000"/>
                    <a:lumOff val="50000"/>
                  </a:schemeClr>
                </a:solidFill>
              </a:rPr>
              <a:t> e disk </a:t>
            </a:r>
            <a:r>
              <a:rPr lang="pt-BR" sz="1800" dirty="0" err="1" smtClean="0">
                <a:solidFill>
                  <a:schemeClr val="tx1">
                    <a:lumMod val="50000"/>
                    <a:lumOff val="50000"/>
                  </a:schemeClr>
                </a:solidFill>
              </a:rPr>
              <a:t>groups</a:t>
            </a:r>
            <a:r>
              <a:rPr lang="pt-BR" sz="1800" dirty="0" smtClean="0">
                <a:solidFill>
                  <a:schemeClr val="tx1">
                    <a:lumMod val="50000"/>
                    <a:lumOff val="50000"/>
                  </a:schemeClr>
                </a:solidFill>
              </a:rPr>
              <a:t>.</a:t>
            </a:r>
          </a:p>
          <a:p>
            <a:pPr algn="l">
              <a:lnSpc>
                <a:spcPct val="110000"/>
              </a:lnSpc>
            </a:pPr>
            <a:r>
              <a:rPr lang="pt-BR" sz="1800" dirty="0" smtClean="0">
                <a:solidFill>
                  <a:schemeClr val="tx1">
                    <a:lumMod val="50000"/>
                    <a:lumOff val="50000"/>
                  </a:schemeClr>
                </a:solidFill>
              </a:rPr>
              <a:t>Para cada um destes recursos, temos acesso a informações históricas para análise de taxas de crescimento da utilização, que nos permitem prever com antecedência o momento em que o recurso será esgotado.</a:t>
            </a:r>
          </a:p>
          <a:p>
            <a:pPr algn="l">
              <a:lnSpc>
                <a:spcPct val="110000"/>
              </a:lnSpc>
            </a:pPr>
            <a:r>
              <a:rPr lang="pt-BR" sz="1800" dirty="0" smtClean="0">
                <a:solidFill>
                  <a:schemeClr val="tx1">
                    <a:lumMod val="50000"/>
                    <a:lumOff val="50000"/>
                  </a:schemeClr>
                </a:solidFill>
              </a:rPr>
              <a:t>A ferramenta permitirá diversas análises e a exportação de informações para planilhas, de forma a gerar relatórios.</a:t>
            </a:r>
            <a:endParaRPr lang="pt-BR" sz="1800" dirty="0">
              <a:solidFill>
                <a:schemeClr val="tx1">
                  <a:lumMod val="50000"/>
                  <a:lumOff val="50000"/>
                </a:schemeClr>
              </a:solidFill>
            </a:endParaRPr>
          </a:p>
        </p:txBody>
      </p:sp>
    </p:spTree>
    <p:extLst>
      <p:ext uri="{BB962C8B-B14F-4D97-AF65-F5344CB8AC3E}">
        <p14:creationId xmlns:p14="http://schemas.microsoft.com/office/powerpoint/2010/main" val="10806081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7"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Compatibilidade e novas </a:t>
            </a:r>
            <a:r>
              <a:rPr lang="pt-BR" sz="5300" b="1" i="1" dirty="0" err="1" smtClean="0">
                <a:solidFill>
                  <a:schemeClr val="tx1">
                    <a:lumMod val="65000"/>
                    <a:lumOff val="35000"/>
                  </a:schemeClr>
                </a:solidFill>
                <a:latin typeface="+mn-lt"/>
              </a:rPr>
              <a:t>features</a:t>
            </a:r>
            <a:endParaRPr lang="pt-BR" sz="2700" i="1" dirty="0">
              <a:solidFill>
                <a:schemeClr val="tx1">
                  <a:lumMod val="65000"/>
                  <a:lumOff val="35000"/>
                </a:schemeClr>
              </a:solidFill>
              <a:latin typeface="+mn-lt"/>
            </a:endParaRPr>
          </a:p>
        </p:txBody>
      </p:sp>
      <p:sp>
        <p:nvSpPr>
          <p:cNvPr id="8" name="Subtitle 2"/>
          <p:cNvSpPr txBox="1">
            <a:spLocks/>
          </p:cNvSpPr>
          <p:nvPr/>
        </p:nvSpPr>
        <p:spPr>
          <a:xfrm>
            <a:off x="2028945" y="2773017"/>
            <a:ext cx="4631500" cy="385811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10000"/>
              </a:lnSpc>
            </a:pPr>
            <a:r>
              <a:rPr lang="pt-BR" sz="1800" b="1" dirty="0" smtClean="0">
                <a:solidFill>
                  <a:schemeClr val="tx1">
                    <a:lumMod val="50000"/>
                    <a:lumOff val="50000"/>
                  </a:schemeClr>
                </a:solidFill>
              </a:rPr>
              <a:t>Compatibilidade</a:t>
            </a:r>
            <a:endParaRPr lang="pt-BR" sz="1800" dirty="0" smtClean="0">
              <a:solidFill>
                <a:schemeClr val="tx1">
                  <a:lumMod val="50000"/>
                  <a:lumOff val="50000"/>
                </a:schemeClr>
              </a:solidFill>
            </a:endParaRPr>
          </a:p>
          <a:p>
            <a:pPr marL="285750" indent="-285750" algn="l">
              <a:lnSpc>
                <a:spcPct val="110000"/>
              </a:lnSpc>
              <a:buFont typeface="Arial" panose="020B0604020202020204" pitchFamily="34" charset="0"/>
              <a:buChar char="•"/>
            </a:pPr>
            <a:r>
              <a:rPr lang="pt-BR" sz="1400" dirty="0" smtClean="0">
                <a:solidFill>
                  <a:schemeClr val="bg2">
                    <a:lumMod val="50000"/>
                  </a:schemeClr>
                </a:solidFill>
              </a:rPr>
              <a:t>Está integrado as versões de Oracle;</a:t>
            </a:r>
            <a:endParaRPr lang="pt-BR" sz="1400" dirty="0">
              <a:solidFill>
                <a:schemeClr val="bg2">
                  <a:lumMod val="50000"/>
                </a:schemeClr>
              </a:solidFill>
            </a:endParaRPr>
          </a:p>
          <a:p>
            <a:pPr marL="285750" indent="-285750" algn="l">
              <a:lnSpc>
                <a:spcPct val="110000"/>
              </a:lnSpc>
              <a:buFont typeface="Arial" panose="020B0604020202020204" pitchFamily="34" charset="0"/>
              <a:buChar char="•"/>
            </a:pPr>
            <a:r>
              <a:rPr lang="pt-BR" sz="1400" dirty="0" smtClean="0">
                <a:solidFill>
                  <a:schemeClr val="bg2">
                    <a:lumMod val="50000"/>
                  </a:schemeClr>
                </a:solidFill>
              </a:rPr>
              <a:t>Já foi documentada uma forma de integração com outros bancos;</a:t>
            </a:r>
          </a:p>
          <a:p>
            <a:pPr marL="285750" indent="-285750" algn="l">
              <a:lnSpc>
                <a:spcPct val="110000"/>
              </a:lnSpc>
              <a:buFont typeface="Arial" panose="020B0604020202020204" pitchFamily="34" charset="0"/>
              <a:buChar char="•"/>
            </a:pPr>
            <a:r>
              <a:rPr lang="pt-BR" sz="1400" dirty="0" smtClean="0">
                <a:solidFill>
                  <a:schemeClr val="bg2">
                    <a:lumMod val="50000"/>
                  </a:schemeClr>
                </a:solidFill>
              </a:rPr>
              <a:t>Informações semelhantes são possíveis de serem retiradas do MS-SQL Server e Sybase;</a:t>
            </a:r>
          </a:p>
          <a:p>
            <a:pPr marL="285750" indent="-285750" algn="l">
              <a:lnSpc>
                <a:spcPct val="110000"/>
              </a:lnSpc>
              <a:buFont typeface="Arial" panose="020B0604020202020204" pitchFamily="34" charset="0"/>
              <a:buChar char="•"/>
            </a:pPr>
            <a:r>
              <a:rPr lang="pt-BR" sz="1400" dirty="0" smtClean="0">
                <a:solidFill>
                  <a:schemeClr val="bg2">
                    <a:lumMod val="50000"/>
                  </a:schemeClr>
                </a:solidFill>
              </a:rPr>
              <a:t>MySQL pode ser integrado, mas precisa de rotinas de coletas, uma vez que o banco não provê tais informações nativamente;</a:t>
            </a:r>
            <a:endParaRPr lang="pt-BR" sz="1400" dirty="0">
              <a:solidFill>
                <a:schemeClr val="bg2">
                  <a:lumMod val="50000"/>
                </a:schemeClr>
              </a:solidFill>
            </a:endParaRPr>
          </a:p>
          <a:p>
            <a:pPr marL="285750" indent="-285750" algn="l">
              <a:lnSpc>
                <a:spcPct val="110000"/>
              </a:lnSpc>
              <a:buFont typeface="Arial" panose="020B0604020202020204" pitchFamily="34" charset="0"/>
              <a:buChar char="•"/>
            </a:pPr>
            <a:endParaRPr lang="pt-BR" sz="1600" dirty="0">
              <a:solidFill>
                <a:schemeClr val="bg2">
                  <a:lumMod val="50000"/>
                </a:schemeClr>
              </a:solidFill>
            </a:endParaRPr>
          </a:p>
        </p:txBody>
      </p:sp>
      <p:sp>
        <p:nvSpPr>
          <p:cNvPr id="10" name="Subtitle 2"/>
          <p:cNvSpPr txBox="1">
            <a:spLocks/>
          </p:cNvSpPr>
          <p:nvPr/>
        </p:nvSpPr>
        <p:spPr>
          <a:xfrm>
            <a:off x="6905745" y="2760828"/>
            <a:ext cx="4631500" cy="387290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10000"/>
              </a:lnSpc>
            </a:pPr>
            <a:r>
              <a:rPr lang="pt-BR" sz="1800" b="1" dirty="0" smtClean="0">
                <a:solidFill>
                  <a:schemeClr val="tx1">
                    <a:lumMod val="50000"/>
                    <a:lumOff val="50000"/>
                  </a:schemeClr>
                </a:solidFill>
              </a:rPr>
              <a:t>Novas </a:t>
            </a:r>
            <a:r>
              <a:rPr lang="pt-BR" sz="1800" b="1" i="1" dirty="0" err="1" smtClean="0">
                <a:solidFill>
                  <a:schemeClr val="tx1">
                    <a:lumMod val="50000"/>
                    <a:lumOff val="50000"/>
                  </a:schemeClr>
                </a:solidFill>
              </a:rPr>
              <a:t>features</a:t>
            </a:r>
            <a:endParaRPr lang="pt-BR" sz="1800" i="1" dirty="0" smtClean="0">
              <a:solidFill>
                <a:schemeClr val="tx1">
                  <a:lumMod val="50000"/>
                  <a:lumOff val="50000"/>
                </a:schemeClr>
              </a:solidFill>
            </a:endParaRPr>
          </a:p>
          <a:p>
            <a:pPr marL="285750" indent="-285750" algn="l">
              <a:lnSpc>
                <a:spcPct val="110000"/>
              </a:lnSpc>
              <a:buFont typeface="Arial" panose="020B0604020202020204" pitchFamily="34" charset="0"/>
              <a:buChar char="•"/>
            </a:pPr>
            <a:r>
              <a:rPr lang="pt-BR" sz="1400" dirty="0" smtClean="0">
                <a:solidFill>
                  <a:schemeClr val="bg2">
                    <a:lumMod val="50000"/>
                  </a:schemeClr>
                </a:solidFill>
              </a:rPr>
              <a:t>Árvore de visualização que facilita o agrupamento de clientes e ambientes (Ferramenta </a:t>
            </a:r>
            <a:r>
              <a:rPr lang="pt-BR" sz="1400" dirty="0" err="1" smtClean="0">
                <a:solidFill>
                  <a:schemeClr val="bg2">
                    <a:lumMod val="50000"/>
                  </a:schemeClr>
                </a:solidFill>
              </a:rPr>
              <a:t>Database</a:t>
            </a:r>
            <a:r>
              <a:rPr lang="pt-BR" sz="1400" dirty="0" smtClean="0">
                <a:solidFill>
                  <a:schemeClr val="bg2">
                    <a:lumMod val="50000"/>
                  </a:schemeClr>
                </a:solidFill>
              </a:rPr>
              <a:t> Explorer);</a:t>
            </a:r>
          </a:p>
          <a:p>
            <a:pPr marL="285750" indent="-285750" algn="l">
              <a:lnSpc>
                <a:spcPct val="110000"/>
              </a:lnSpc>
              <a:buFont typeface="Arial" panose="020B0604020202020204" pitchFamily="34" charset="0"/>
              <a:buChar char="•"/>
            </a:pPr>
            <a:r>
              <a:rPr lang="pt-BR" sz="1400" dirty="0" smtClean="0">
                <a:solidFill>
                  <a:schemeClr val="bg2">
                    <a:lumMod val="50000"/>
                  </a:schemeClr>
                </a:solidFill>
              </a:rPr>
              <a:t>Elaboração da ferramenta de planejamento de capacidade baseado no crescimento registrado;</a:t>
            </a:r>
          </a:p>
          <a:p>
            <a:pPr marL="285750" indent="-285750" algn="l">
              <a:lnSpc>
                <a:spcPct val="110000"/>
              </a:lnSpc>
              <a:buFont typeface="Arial" panose="020B0604020202020204" pitchFamily="34" charset="0"/>
              <a:buChar char="•"/>
            </a:pPr>
            <a:r>
              <a:rPr lang="pt-BR" sz="1400" dirty="0" smtClean="0">
                <a:solidFill>
                  <a:schemeClr val="bg2">
                    <a:lumMod val="50000"/>
                  </a:schemeClr>
                </a:solidFill>
              </a:rPr>
              <a:t>Apresentação de comandos para ajuste de </a:t>
            </a:r>
            <a:r>
              <a:rPr lang="pt-BR" sz="1400" dirty="0" err="1" smtClean="0">
                <a:solidFill>
                  <a:schemeClr val="bg2">
                    <a:lumMod val="50000"/>
                  </a:schemeClr>
                </a:solidFill>
              </a:rPr>
              <a:t>tablespaces</a:t>
            </a:r>
            <a:r>
              <a:rPr lang="pt-BR" sz="1400" dirty="0" smtClean="0">
                <a:solidFill>
                  <a:schemeClr val="bg2">
                    <a:lumMod val="50000"/>
                  </a:schemeClr>
                </a:solidFill>
              </a:rPr>
              <a:t>;</a:t>
            </a:r>
            <a:endParaRPr lang="pt-BR" sz="1400" dirty="0">
              <a:solidFill>
                <a:schemeClr val="bg2">
                  <a:lumMod val="50000"/>
                </a:schemeClr>
              </a:solidFill>
            </a:endParaRPr>
          </a:p>
        </p:txBody>
      </p:sp>
      <p:sp>
        <p:nvSpPr>
          <p:cNvPr id="9" name="Subtitle 2"/>
          <p:cNvSpPr txBox="1">
            <a:spLocks/>
          </p:cNvSpPr>
          <p:nvPr/>
        </p:nvSpPr>
        <p:spPr>
          <a:xfrm>
            <a:off x="2028945" y="1361661"/>
            <a:ext cx="9508300" cy="167971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10000"/>
              </a:lnSpc>
            </a:pPr>
            <a:r>
              <a:rPr lang="pt-BR" sz="1800" b="1" dirty="0" smtClean="0">
                <a:solidFill>
                  <a:schemeClr val="tx1">
                    <a:lumMod val="50000"/>
                    <a:lumOff val="50000"/>
                  </a:schemeClr>
                </a:solidFill>
              </a:rPr>
              <a:t>A aplicação baseia-se em informações disponibilizadas pelos bancos de dados, que são coletadas e armazenadas localmente. Um resumo desta informação é enviado, </a:t>
            </a:r>
            <a:r>
              <a:rPr lang="pt-BR" sz="1800" b="1" dirty="0">
                <a:solidFill>
                  <a:schemeClr val="tx1">
                    <a:lumMod val="50000"/>
                    <a:lumOff val="50000"/>
                  </a:schemeClr>
                </a:solidFill>
              </a:rPr>
              <a:t>através de </a:t>
            </a:r>
            <a:r>
              <a:rPr lang="pt-BR" sz="1800" b="1" dirty="0" smtClean="0">
                <a:solidFill>
                  <a:schemeClr val="tx1">
                    <a:lumMod val="50000"/>
                    <a:lumOff val="50000"/>
                  </a:schemeClr>
                </a:solidFill>
              </a:rPr>
              <a:t>proxies, para a base de dados consolidada, chamada “Black </a:t>
            </a:r>
            <a:r>
              <a:rPr lang="pt-BR" sz="1800" b="1" dirty="0" err="1" smtClean="0">
                <a:solidFill>
                  <a:schemeClr val="tx1">
                    <a:lumMod val="50000"/>
                    <a:lumOff val="50000"/>
                  </a:schemeClr>
                </a:solidFill>
              </a:rPr>
              <a:t>Hole</a:t>
            </a:r>
            <a:r>
              <a:rPr lang="pt-BR" sz="1800" b="1" dirty="0" smtClean="0">
                <a:solidFill>
                  <a:schemeClr val="tx1">
                    <a:lumMod val="50000"/>
                    <a:lumOff val="50000"/>
                  </a:schemeClr>
                </a:solidFill>
              </a:rPr>
              <a:t>”.</a:t>
            </a:r>
            <a:endParaRPr lang="pt-BR" sz="1800" dirty="0" smtClean="0">
              <a:solidFill>
                <a:schemeClr val="tx1">
                  <a:lumMod val="50000"/>
                  <a:lumOff val="50000"/>
                </a:schemeClr>
              </a:solidFill>
            </a:endParaRPr>
          </a:p>
        </p:txBody>
      </p:sp>
    </p:spTree>
    <p:extLst>
      <p:ext uri="{BB962C8B-B14F-4D97-AF65-F5344CB8AC3E}">
        <p14:creationId xmlns:p14="http://schemas.microsoft.com/office/powerpoint/2010/main" val="32207858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1596913" y="1275347"/>
            <a:ext cx="9240420" cy="2967915"/>
          </a:xfrm>
        </p:spPr>
        <p:txBody>
          <a:bodyPr anchor="t">
            <a:normAutofit/>
          </a:bodyPr>
          <a:lstStyle/>
          <a:p>
            <a:pPr marL="360000" algn="l">
              <a:lnSpc>
                <a:spcPct val="80000"/>
              </a:lnSpc>
              <a:spcBef>
                <a:spcPts val="0"/>
              </a:spcBef>
            </a:pPr>
            <a:r>
              <a:rPr lang="pt-BR" sz="3200" b="1" dirty="0" smtClean="0">
                <a:solidFill>
                  <a:schemeClr val="tx1">
                    <a:lumMod val="65000"/>
                    <a:lumOff val="35000"/>
                  </a:schemeClr>
                </a:solidFill>
                <a:latin typeface="+mn-lt"/>
              </a:rPr>
              <a:t/>
            </a:r>
            <a:br>
              <a:rPr lang="pt-BR" sz="3200" b="1" dirty="0" smtClean="0">
                <a:solidFill>
                  <a:schemeClr val="tx1">
                    <a:lumMod val="65000"/>
                    <a:lumOff val="35000"/>
                  </a:schemeClr>
                </a:solidFill>
                <a:latin typeface="+mn-lt"/>
              </a:rPr>
            </a:br>
            <a:r>
              <a:rPr lang="pt-BR" sz="2400" b="1" dirty="0" smtClean="0">
                <a:solidFill>
                  <a:schemeClr val="tx1">
                    <a:lumMod val="65000"/>
                    <a:lumOff val="35000"/>
                  </a:schemeClr>
                </a:solidFill>
                <a:latin typeface="+mn-lt"/>
              </a:rPr>
              <a:t/>
            </a:r>
            <a:br>
              <a:rPr lang="pt-BR" sz="2400" b="1" dirty="0" smtClean="0">
                <a:solidFill>
                  <a:schemeClr val="tx1">
                    <a:lumMod val="65000"/>
                    <a:lumOff val="35000"/>
                  </a:schemeClr>
                </a:solidFill>
                <a:latin typeface="+mn-lt"/>
              </a:rPr>
            </a:br>
            <a:r>
              <a:rPr lang="pt-BR" b="1" dirty="0" smtClean="0">
                <a:solidFill>
                  <a:schemeClr val="tx1">
                    <a:lumMod val="65000"/>
                    <a:lumOff val="35000"/>
                  </a:schemeClr>
                </a:solidFill>
                <a:latin typeface="+mn-lt"/>
              </a:rPr>
              <a:t>	Overview da ferramenta</a:t>
            </a:r>
            <a:br>
              <a:rPr lang="pt-BR" b="1" dirty="0" smtClean="0">
                <a:solidFill>
                  <a:schemeClr val="tx1">
                    <a:lumMod val="65000"/>
                    <a:lumOff val="35000"/>
                  </a:schemeClr>
                </a:solidFill>
                <a:latin typeface="+mn-lt"/>
              </a:rPr>
            </a:br>
            <a:r>
              <a:rPr lang="pt-BR" sz="2000" b="1" dirty="0" smtClean="0">
                <a:solidFill>
                  <a:schemeClr val="tx1">
                    <a:lumMod val="65000"/>
                    <a:lumOff val="35000"/>
                  </a:schemeClr>
                </a:solidFill>
                <a:latin typeface="+mn-lt"/>
              </a:rPr>
              <a:t>					(</a:t>
            </a:r>
            <a:r>
              <a:rPr lang="pt-BR" sz="2000" b="1" dirty="0" err="1" smtClean="0">
                <a:solidFill>
                  <a:schemeClr val="tx1">
                    <a:lumMod val="65000"/>
                    <a:lumOff val="35000"/>
                  </a:schemeClr>
                </a:solidFill>
                <a:latin typeface="+mn-lt"/>
              </a:rPr>
              <a:t>starring</a:t>
            </a:r>
            <a:r>
              <a:rPr lang="pt-BR" sz="2000" b="1" dirty="0" smtClean="0">
                <a:solidFill>
                  <a:schemeClr val="tx1">
                    <a:lumMod val="65000"/>
                    <a:lumOff val="35000"/>
                  </a:schemeClr>
                </a:solidFill>
                <a:latin typeface="+mn-lt"/>
              </a:rPr>
              <a:t> Arthur, Edu e “o </a:t>
            </a:r>
            <a:r>
              <a:rPr lang="pt-BR" sz="2000" b="1" dirty="0" err="1" smtClean="0">
                <a:solidFill>
                  <a:schemeClr val="tx1">
                    <a:lumMod val="65000"/>
                    <a:lumOff val="35000"/>
                  </a:schemeClr>
                </a:solidFill>
                <a:latin typeface="+mn-lt"/>
              </a:rPr>
              <a:t>Dashboard</a:t>
            </a:r>
            <a:r>
              <a:rPr lang="pt-BR" sz="2000" b="1" dirty="0" smtClean="0">
                <a:solidFill>
                  <a:schemeClr val="tx1">
                    <a:lumMod val="65000"/>
                    <a:lumOff val="35000"/>
                  </a:schemeClr>
                </a:solidFill>
                <a:latin typeface="+mn-lt"/>
              </a:rPr>
              <a:t>”)</a:t>
            </a:r>
            <a:r>
              <a:rPr lang="pt-BR" b="1" dirty="0" smtClean="0">
                <a:solidFill>
                  <a:schemeClr val="tx1">
                    <a:lumMod val="65000"/>
                    <a:lumOff val="35000"/>
                  </a:schemeClr>
                </a:solidFill>
                <a:latin typeface="+mn-lt"/>
              </a:rPr>
              <a:t/>
            </a:r>
            <a:br>
              <a:rPr lang="pt-BR" b="1" dirty="0" smtClean="0">
                <a:solidFill>
                  <a:schemeClr val="tx1">
                    <a:lumMod val="65000"/>
                    <a:lumOff val="35000"/>
                  </a:schemeClr>
                </a:solidFill>
                <a:latin typeface="+mn-lt"/>
              </a:rPr>
            </a:br>
            <a:endParaRPr lang="pt-BR" b="1" dirty="0">
              <a:solidFill>
                <a:schemeClr val="tx1">
                  <a:lumMod val="65000"/>
                  <a:lumOff val="35000"/>
                </a:schemeClr>
              </a:solidFill>
              <a:latin typeface="+mn-lt"/>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Tree>
    <p:extLst>
      <p:ext uri="{BB962C8B-B14F-4D97-AF65-F5344CB8AC3E}">
        <p14:creationId xmlns:p14="http://schemas.microsoft.com/office/powerpoint/2010/main" val="249967178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7"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Considerações</a:t>
            </a:r>
            <a:endParaRPr lang="pt-BR" sz="2700" i="1" dirty="0">
              <a:solidFill>
                <a:schemeClr val="tx1">
                  <a:lumMod val="65000"/>
                  <a:lumOff val="35000"/>
                </a:schemeClr>
              </a:solidFill>
              <a:latin typeface="+mn-lt"/>
            </a:endParaRPr>
          </a:p>
        </p:txBody>
      </p:sp>
      <p:sp>
        <p:nvSpPr>
          <p:cNvPr id="8" name="Subtitle 2"/>
          <p:cNvSpPr txBox="1">
            <a:spLocks/>
          </p:cNvSpPr>
          <p:nvPr/>
        </p:nvSpPr>
        <p:spPr>
          <a:xfrm>
            <a:off x="2028945" y="2773017"/>
            <a:ext cx="9508300" cy="385811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10000"/>
              </a:lnSpc>
            </a:pPr>
            <a:endParaRPr lang="pt-BR" sz="1800" dirty="0" smtClean="0">
              <a:solidFill>
                <a:schemeClr val="tx1">
                  <a:lumMod val="50000"/>
                  <a:lumOff val="50000"/>
                </a:schemeClr>
              </a:solidFill>
            </a:endParaRPr>
          </a:p>
          <a:p>
            <a:pPr marL="285750" indent="-285750" algn="l">
              <a:lnSpc>
                <a:spcPct val="110000"/>
              </a:lnSpc>
              <a:buFont typeface="Arial" panose="020B0604020202020204" pitchFamily="34" charset="0"/>
              <a:buChar char="•"/>
            </a:pPr>
            <a:r>
              <a:rPr lang="pt-BR" sz="1600" dirty="0" smtClean="0">
                <a:solidFill>
                  <a:schemeClr val="bg2">
                    <a:lumMod val="50000"/>
                  </a:schemeClr>
                </a:solidFill>
              </a:rPr>
              <a:t>A indisponibilidade da ferramenta não impede o trabalho dos times;</a:t>
            </a:r>
          </a:p>
          <a:p>
            <a:pPr marL="285750" indent="-285750" algn="l">
              <a:lnSpc>
                <a:spcPct val="110000"/>
              </a:lnSpc>
              <a:buFont typeface="Arial" panose="020B0604020202020204" pitchFamily="34" charset="0"/>
              <a:buChar char="•"/>
            </a:pPr>
            <a:r>
              <a:rPr lang="pt-BR" sz="1600" dirty="0" smtClean="0">
                <a:solidFill>
                  <a:schemeClr val="bg2">
                    <a:lumMod val="50000"/>
                  </a:schemeClr>
                </a:solidFill>
              </a:rPr>
              <a:t>Ainda não temos a ferramenta em uma estrutura de alta disponibilidade;</a:t>
            </a:r>
          </a:p>
          <a:p>
            <a:pPr marL="285750" indent="-285750" algn="l">
              <a:lnSpc>
                <a:spcPct val="110000"/>
              </a:lnSpc>
              <a:buFont typeface="Arial" panose="020B0604020202020204" pitchFamily="34" charset="0"/>
              <a:buChar char="•"/>
            </a:pPr>
            <a:r>
              <a:rPr lang="pt-BR" sz="1600" dirty="0" smtClean="0">
                <a:solidFill>
                  <a:schemeClr val="bg2">
                    <a:lumMod val="50000"/>
                  </a:schemeClr>
                </a:solidFill>
              </a:rPr>
              <a:t>Em caso de problemas, a princípio, o restabelecimento será feito em horário comercial pelo time que a implantou;</a:t>
            </a:r>
          </a:p>
          <a:p>
            <a:pPr marL="285750" indent="-285750" algn="l">
              <a:lnSpc>
                <a:spcPct val="110000"/>
              </a:lnSpc>
              <a:buFont typeface="Arial" panose="020B0604020202020204" pitchFamily="34" charset="0"/>
              <a:buChar char="•"/>
            </a:pPr>
            <a:r>
              <a:rPr lang="pt-BR" sz="1600" dirty="0" smtClean="0">
                <a:solidFill>
                  <a:schemeClr val="bg2">
                    <a:lumMod val="50000"/>
                  </a:schemeClr>
                </a:solidFill>
              </a:rPr>
              <a:t>A utilização não é mandatória, o objetivo é ajudar </a:t>
            </a:r>
            <a:r>
              <a:rPr lang="pt-BR" sz="1600" dirty="0" smtClean="0">
                <a:solidFill>
                  <a:schemeClr val="bg2">
                    <a:lumMod val="50000"/>
                  </a:schemeClr>
                </a:solidFill>
                <a:sym typeface="Wingdings" panose="05000000000000000000" pitchFamily="2" charset="2"/>
              </a:rPr>
              <a:t>;</a:t>
            </a:r>
          </a:p>
          <a:p>
            <a:pPr marL="285750" indent="-285750" algn="l">
              <a:lnSpc>
                <a:spcPct val="110000"/>
              </a:lnSpc>
              <a:buFont typeface="Arial" panose="020B0604020202020204" pitchFamily="34" charset="0"/>
              <a:buChar char="•"/>
            </a:pPr>
            <a:r>
              <a:rPr lang="pt-BR" sz="1600" dirty="0" smtClean="0">
                <a:solidFill>
                  <a:schemeClr val="bg2">
                    <a:lumMod val="50000"/>
                  </a:schemeClr>
                </a:solidFill>
                <a:sym typeface="Wingdings" panose="05000000000000000000" pitchFamily="2" charset="2"/>
              </a:rPr>
              <a:t>Convidamos todos os times a participar do projeto, e trocar ideias para evolução da ferramenta;</a:t>
            </a:r>
            <a:endParaRPr lang="pt-BR" sz="1600" dirty="0">
              <a:solidFill>
                <a:schemeClr val="bg2">
                  <a:lumMod val="50000"/>
                </a:schemeClr>
              </a:solidFill>
            </a:endParaRPr>
          </a:p>
          <a:p>
            <a:pPr marL="285750" indent="-285750" algn="l">
              <a:lnSpc>
                <a:spcPct val="110000"/>
              </a:lnSpc>
              <a:buFont typeface="Arial" panose="020B0604020202020204" pitchFamily="34" charset="0"/>
              <a:buChar char="•"/>
            </a:pPr>
            <a:endParaRPr lang="pt-BR" sz="1600" dirty="0">
              <a:solidFill>
                <a:schemeClr val="bg2">
                  <a:lumMod val="50000"/>
                </a:schemeClr>
              </a:solidFill>
            </a:endParaRPr>
          </a:p>
        </p:txBody>
      </p:sp>
      <p:sp>
        <p:nvSpPr>
          <p:cNvPr id="9" name="Subtitle 2"/>
          <p:cNvSpPr txBox="1">
            <a:spLocks/>
          </p:cNvSpPr>
          <p:nvPr/>
        </p:nvSpPr>
        <p:spPr>
          <a:xfrm>
            <a:off x="2028945" y="1520685"/>
            <a:ext cx="9508300" cy="167971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10000"/>
              </a:lnSpc>
            </a:pPr>
            <a:r>
              <a:rPr lang="pt-BR" sz="1800" b="1" dirty="0" smtClean="0">
                <a:solidFill>
                  <a:schemeClr val="tx1">
                    <a:lumMod val="50000"/>
                    <a:lumOff val="50000"/>
                  </a:schemeClr>
                </a:solidFill>
              </a:rPr>
              <a:t>Temos que ter em mente que esta é uma ferramenta de </a:t>
            </a:r>
            <a:r>
              <a:rPr lang="pt-BR" sz="1800" b="1" dirty="0" err="1" smtClean="0">
                <a:solidFill>
                  <a:schemeClr val="tx1">
                    <a:lumMod val="50000"/>
                    <a:lumOff val="50000"/>
                  </a:schemeClr>
                </a:solidFill>
              </a:rPr>
              <a:t>proatividade</a:t>
            </a:r>
            <a:r>
              <a:rPr lang="pt-BR" sz="1800" b="1" dirty="0" smtClean="0">
                <a:solidFill>
                  <a:schemeClr val="tx1">
                    <a:lumMod val="50000"/>
                    <a:lumOff val="50000"/>
                  </a:schemeClr>
                </a:solidFill>
              </a:rPr>
              <a:t> que visa auxiliar nas rotinas operacionais do time de Banco de Dados, mas pode ser usada como “forma de comunicação” nas análises entre as áreas que participam do processo de suporte ao BD.</a:t>
            </a:r>
            <a:endParaRPr lang="pt-BR" sz="1800" dirty="0" smtClean="0">
              <a:solidFill>
                <a:schemeClr val="tx1">
                  <a:lumMod val="50000"/>
                  <a:lumOff val="50000"/>
                </a:schemeClr>
              </a:solidFill>
            </a:endParaRPr>
          </a:p>
        </p:txBody>
      </p:sp>
    </p:spTree>
    <p:extLst>
      <p:ext uri="{BB962C8B-B14F-4D97-AF65-F5344CB8AC3E}">
        <p14:creationId xmlns:p14="http://schemas.microsoft.com/office/powerpoint/2010/main" val="42807881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1546" y="5714092"/>
            <a:ext cx="1921267" cy="797774"/>
          </a:xfrm>
          <a:prstGeom prst="rect">
            <a:avLst/>
          </a:prstGeom>
        </p:spPr>
      </p:pic>
      <p:sp>
        <p:nvSpPr>
          <p:cNvPr id="7" name="Title 1"/>
          <p:cNvSpPr txBox="1">
            <a:spLocks/>
          </p:cNvSpPr>
          <p:nvPr/>
        </p:nvSpPr>
        <p:spPr>
          <a:xfrm>
            <a:off x="1388532" y="327377"/>
            <a:ext cx="9776178" cy="803591"/>
          </a:xfrm>
          <a:prstGeom prst="rect">
            <a:avLst/>
          </a:prstGeom>
        </p:spPr>
        <p:txBody>
          <a:bodyPr vert="horz" lIns="91440" tIns="45720" rIns="91440" bIns="45720" rtlCol="0" anchor="t">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60000" algn="l">
              <a:lnSpc>
                <a:spcPct val="110000"/>
              </a:lnSpc>
              <a:spcBef>
                <a:spcPts val="0"/>
              </a:spcBef>
            </a:pPr>
            <a:r>
              <a:rPr lang="pt-BR" sz="5300" b="1" dirty="0" smtClean="0">
                <a:solidFill>
                  <a:schemeClr val="tx1">
                    <a:lumMod val="65000"/>
                    <a:lumOff val="35000"/>
                  </a:schemeClr>
                </a:solidFill>
                <a:latin typeface="+mn-lt"/>
              </a:rPr>
              <a:t>Próximos passos...</a:t>
            </a:r>
            <a:endParaRPr lang="pt-BR" sz="2700" i="1" dirty="0">
              <a:solidFill>
                <a:schemeClr val="tx1">
                  <a:lumMod val="65000"/>
                  <a:lumOff val="35000"/>
                </a:schemeClr>
              </a:solidFill>
              <a:latin typeface="+mn-lt"/>
            </a:endParaRPr>
          </a:p>
        </p:txBody>
      </p:sp>
      <p:sp>
        <p:nvSpPr>
          <p:cNvPr id="8" name="Subtitle 2"/>
          <p:cNvSpPr txBox="1">
            <a:spLocks/>
          </p:cNvSpPr>
          <p:nvPr/>
        </p:nvSpPr>
        <p:spPr>
          <a:xfrm>
            <a:off x="2028945" y="2773017"/>
            <a:ext cx="9508300" cy="385811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10000"/>
              </a:lnSpc>
            </a:pPr>
            <a:r>
              <a:rPr lang="pt-BR" sz="1800" b="1" dirty="0" smtClean="0">
                <a:solidFill>
                  <a:schemeClr val="tx1">
                    <a:lumMod val="50000"/>
                    <a:lumOff val="50000"/>
                  </a:schemeClr>
                </a:solidFill>
              </a:rPr>
              <a:t>Sugestões:</a:t>
            </a:r>
            <a:endParaRPr lang="pt-BR" sz="1800" dirty="0" smtClean="0">
              <a:solidFill>
                <a:schemeClr val="tx1">
                  <a:lumMod val="50000"/>
                  <a:lumOff val="50000"/>
                </a:schemeClr>
              </a:solidFill>
            </a:endParaRPr>
          </a:p>
          <a:p>
            <a:pPr marL="285750" indent="-285750" algn="l">
              <a:lnSpc>
                <a:spcPct val="110000"/>
              </a:lnSpc>
              <a:buFont typeface="Arial" panose="020B0604020202020204" pitchFamily="34" charset="0"/>
              <a:buChar char="•"/>
            </a:pPr>
            <a:r>
              <a:rPr lang="pt-BR" sz="1600" dirty="0" smtClean="0">
                <a:solidFill>
                  <a:schemeClr val="bg2">
                    <a:lumMod val="50000"/>
                  </a:schemeClr>
                </a:solidFill>
              </a:rPr>
              <a:t>Instalação das aplicações nos desktops dos analistas interessados;</a:t>
            </a:r>
          </a:p>
          <a:p>
            <a:pPr marL="285750" indent="-285750" algn="l">
              <a:lnSpc>
                <a:spcPct val="110000"/>
              </a:lnSpc>
              <a:buFont typeface="Arial" panose="020B0604020202020204" pitchFamily="34" charset="0"/>
              <a:buChar char="•"/>
            </a:pPr>
            <a:r>
              <a:rPr lang="pt-BR" sz="1600" dirty="0" smtClean="0">
                <a:solidFill>
                  <a:schemeClr val="bg2">
                    <a:lumMod val="50000"/>
                  </a:schemeClr>
                </a:solidFill>
              </a:rPr>
              <a:t>Definição de uma lista de clientes prioritários, para integração das instâncias Oracle com os coletores;</a:t>
            </a:r>
          </a:p>
          <a:p>
            <a:pPr marL="285750" indent="-285750" algn="l">
              <a:lnSpc>
                <a:spcPct val="110000"/>
              </a:lnSpc>
              <a:buFont typeface="Arial" panose="020B0604020202020204" pitchFamily="34" charset="0"/>
              <a:buChar char="•"/>
            </a:pPr>
            <a:r>
              <a:rPr lang="pt-BR" sz="1600" dirty="0" smtClean="0">
                <a:solidFill>
                  <a:schemeClr val="bg2">
                    <a:lumMod val="50000"/>
                  </a:schemeClr>
                </a:solidFill>
              </a:rPr>
              <a:t>Desenvolvimento das coletas para Sybase, MS-SQL Server e MySQL;</a:t>
            </a:r>
          </a:p>
          <a:p>
            <a:pPr marL="285750" indent="-285750" algn="l">
              <a:lnSpc>
                <a:spcPct val="110000"/>
              </a:lnSpc>
              <a:buFont typeface="Arial" panose="020B0604020202020204" pitchFamily="34" charset="0"/>
              <a:buChar char="•"/>
            </a:pPr>
            <a:r>
              <a:rPr lang="pt-BR" sz="1600" dirty="0" smtClean="0">
                <a:solidFill>
                  <a:schemeClr val="bg2">
                    <a:lumMod val="50000"/>
                  </a:schemeClr>
                </a:solidFill>
              </a:rPr>
              <a:t>Elaborar sugestões para evolução da solução;</a:t>
            </a:r>
            <a:endParaRPr lang="pt-BR" sz="1600" dirty="0">
              <a:solidFill>
                <a:schemeClr val="bg2">
                  <a:lumMod val="50000"/>
                </a:schemeClr>
              </a:solidFill>
            </a:endParaRPr>
          </a:p>
          <a:p>
            <a:pPr marL="285750" indent="-285750" algn="l">
              <a:lnSpc>
                <a:spcPct val="110000"/>
              </a:lnSpc>
              <a:buFont typeface="Arial" panose="020B0604020202020204" pitchFamily="34" charset="0"/>
              <a:buChar char="•"/>
            </a:pPr>
            <a:endParaRPr lang="pt-BR" sz="1600" dirty="0">
              <a:solidFill>
                <a:schemeClr val="bg2">
                  <a:lumMod val="50000"/>
                </a:schemeClr>
              </a:solidFill>
            </a:endParaRPr>
          </a:p>
        </p:txBody>
      </p:sp>
      <p:sp>
        <p:nvSpPr>
          <p:cNvPr id="9" name="Subtitle 2"/>
          <p:cNvSpPr txBox="1">
            <a:spLocks/>
          </p:cNvSpPr>
          <p:nvPr/>
        </p:nvSpPr>
        <p:spPr>
          <a:xfrm>
            <a:off x="2028945" y="1520685"/>
            <a:ext cx="9508300" cy="167971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10000"/>
              </a:lnSpc>
            </a:pPr>
            <a:r>
              <a:rPr lang="pt-BR" sz="1800" b="1" dirty="0" smtClean="0">
                <a:solidFill>
                  <a:schemeClr val="tx1">
                    <a:lumMod val="50000"/>
                    <a:lumOff val="50000"/>
                  </a:schemeClr>
                </a:solidFill>
              </a:rPr>
              <a:t>Considerando os testes preliminares no ambiente da Azul, e se a aplicação fizer sentido para nós da E&amp;O, precisamos definir os próximos passos.</a:t>
            </a:r>
            <a:endParaRPr lang="pt-BR" sz="1800" dirty="0" smtClean="0">
              <a:solidFill>
                <a:schemeClr val="tx1">
                  <a:lumMod val="50000"/>
                  <a:lumOff val="50000"/>
                </a:schemeClr>
              </a:solidFill>
            </a:endParaRPr>
          </a:p>
        </p:txBody>
      </p:sp>
    </p:spTree>
    <p:extLst>
      <p:ext uri="{BB962C8B-B14F-4D97-AF65-F5344CB8AC3E}">
        <p14:creationId xmlns:p14="http://schemas.microsoft.com/office/powerpoint/2010/main" val="31797650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ctrTitle"/>
          </p:nvPr>
        </p:nvSpPr>
        <p:spPr>
          <a:xfrm>
            <a:off x="1190513" y="624004"/>
            <a:ext cx="9240420" cy="4268965"/>
          </a:xfrm>
        </p:spPr>
        <p:txBody>
          <a:bodyPr>
            <a:normAutofit/>
          </a:bodyPr>
          <a:lstStyle/>
          <a:p>
            <a:pPr marL="360000">
              <a:lnSpc>
                <a:spcPct val="80000"/>
              </a:lnSpc>
              <a:spcBef>
                <a:spcPts val="0"/>
              </a:spcBef>
            </a:pPr>
            <a:r>
              <a:rPr lang="pt-BR" b="1" dirty="0" smtClean="0">
                <a:solidFill>
                  <a:schemeClr val="bg1"/>
                </a:solidFill>
                <a:latin typeface="+mn-lt"/>
              </a:rPr>
              <a:t>Obrigado :)</a:t>
            </a:r>
            <a:br>
              <a:rPr lang="pt-BR" b="1" dirty="0" smtClean="0">
                <a:solidFill>
                  <a:schemeClr val="bg1"/>
                </a:solidFill>
                <a:latin typeface="+mn-lt"/>
              </a:rPr>
            </a:br>
            <a:r>
              <a:rPr lang="pt-BR" b="1" dirty="0">
                <a:solidFill>
                  <a:schemeClr val="bg1"/>
                </a:solidFill>
                <a:latin typeface="+mn-lt"/>
              </a:rPr>
              <a:t/>
            </a:r>
            <a:br>
              <a:rPr lang="pt-BR" b="1" dirty="0">
                <a:solidFill>
                  <a:schemeClr val="bg1"/>
                </a:solidFill>
                <a:latin typeface="+mn-lt"/>
              </a:rPr>
            </a:br>
            <a:endParaRPr lang="pt-BR" b="1" dirty="0">
              <a:solidFill>
                <a:schemeClr val="bg1"/>
              </a:solidFill>
              <a:latin typeface="+mn-lt"/>
            </a:endParaRPr>
          </a:p>
        </p:txBody>
      </p:sp>
      <p:sp>
        <p:nvSpPr>
          <p:cNvPr id="5" name="Subtitle 2"/>
          <p:cNvSpPr>
            <a:spLocks noGrp="1"/>
          </p:cNvSpPr>
          <p:nvPr>
            <p:ph type="subTitle" idx="1"/>
          </p:nvPr>
        </p:nvSpPr>
        <p:spPr>
          <a:xfrm>
            <a:off x="2754489" y="3517213"/>
            <a:ext cx="6678298" cy="706355"/>
          </a:xfrm>
        </p:spPr>
        <p:txBody>
          <a:bodyPr>
            <a:normAutofit/>
          </a:bodyPr>
          <a:lstStyle/>
          <a:p>
            <a:r>
              <a:rPr lang="pt-BR" i="1" dirty="0" smtClean="0">
                <a:solidFill>
                  <a:schemeClr val="bg1"/>
                </a:solidFill>
              </a:rPr>
              <a:t>#Hypercare</a:t>
            </a:r>
            <a:r>
              <a:rPr lang="pt-BR" dirty="0">
                <a:solidFill>
                  <a:schemeClr val="bg1"/>
                </a:solidFill>
              </a:rPr>
              <a:t> </a:t>
            </a:r>
          </a:p>
        </p:txBody>
      </p:sp>
    </p:spTree>
    <p:extLst>
      <p:ext uri="{BB962C8B-B14F-4D97-AF65-F5344CB8AC3E}">
        <p14:creationId xmlns:p14="http://schemas.microsoft.com/office/powerpoint/2010/main" val="379104795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1284</TotalTime>
  <Words>898</Words>
  <Application>Microsoft Office PowerPoint</Application>
  <PresentationFormat>Widescreen</PresentationFormat>
  <Paragraphs>79</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Times New Roman</vt:lpstr>
      <vt:lpstr>Wingdings</vt:lpstr>
      <vt:lpstr>Office Theme</vt:lpstr>
      <vt:lpstr>PowerPoint Presentation</vt:lpstr>
      <vt:lpstr>PROJETO:     Black Hole      Administração Proativa de BD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Overview da ferramenta      (starring Arthur, Edu e “o Dashboard”) </vt:lpstr>
      <vt:lpstr>PowerPoint Presentation</vt:lpstr>
      <vt:lpstr>PowerPoint Presentation</vt:lpstr>
      <vt:lpstr>Obrigado :)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Lorem ipsum dolor sit amet, quisque posuere ornare pellentesque!</dc:title>
  <dc:creator>Lisandra Barros Mendonça</dc:creator>
  <cp:lastModifiedBy>Arthur Eduardo Freitas Heinrich</cp:lastModifiedBy>
  <cp:revision>147</cp:revision>
  <dcterms:created xsi:type="dcterms:W3CDTF">2016-03-15T13:37:54Z</dcterms:created>
  <dcterms:modified xsi:type="dcterms:W3CDTF">2017-03-06T17:49:36Z</dcterms:modified>
</cp:coreProperties>
</file>